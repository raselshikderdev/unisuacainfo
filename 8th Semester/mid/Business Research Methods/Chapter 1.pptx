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32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1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1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0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0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1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6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4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1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8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0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57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74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0C0796-6533-8DF7-DB75-DC9C9C293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3439314"/>
            <a:ext cx="10809844" cy="1608021"/>
          </a:xfrm>
        </p:spPr>
        <p:txBody>
          <a:bodyPr anchor="t">
            <a:normAutofit/>
          </a:bodyPr>
          <a:lstStyle/>
          <a:p>
            <a:r>
              <a:rPr lang="en-US" dirty="0"/>
              <a:t>Chapter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40D79-A370-5A5A-96C9-55874ED31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744" y="5067957"/>
            <a:ext cx="4414178" cy="1075444"/>
          </a:xfrm>
        </p:spPr>
        <p:txBody>
          <a:bodyPr anchor="b">
            <a:normAutofit/>
          </a:bodyPr>
          <a:lstStyle/>
          <a:p>
            <a:pPr marL="0" marR="0" algn="r">
              <a:buNone/>
            </a:pPr>
            <a:r>
              <a:rPr lang="en-US" b="1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Research Methodology</a:t>
            </a:r>
          </a:p>
          <a:p>
            <a:pPr algn="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07BB1-AD59-D576-0658-FE587129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71" b="15491"/>
          <a:stretch>
            <a:fillRect/>
          </a:stretch>
        </p:blipFill>
        <p:spPr>
          <a:xfrm>
            <a:off x="-6214" y="10"/>
            <a:ext cx="12214825" cy="3267587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172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0384-95F2-DF1B-C322-88D18A33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01D2-B2FC-E9FE-0997-B06E0BB9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1"/>
            <a:ext cx="11043721" cy="1273926"/>
          </a:xfrm>
        </p:spPr>
        <p:txBody>
          <a:bodyPr>
            <a:normAutofit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is an important part of academic study, business decision-making, and problem-solving. It provides a systematic way of obtaining information, examining problems, and developing knowledge.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166B55-5B4D-312A-B1DC-3A0D0516CE07}"/>
              </a:ext>
            </a:extLst>
          </p:cNvPr>
          <p:cNvSpPr txBox="1">
            <a:spLocks/>
          </p:cNvSpPr>
          <p:nvPr/>
        </p:nvSpPr>
        <p:spPr>
          <a:xfrm>
            <a:off x="691078" y="3293564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None/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Research can be used to: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Discover new knowledge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Understand existing problems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Explain relationships between variables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6AADAB-E42A-B871-6196-6E440C9B9D5E}"/>
              </a:ext>
            </a:extLst>
          </p:cNvPr>
          <p:cNvSpPr txBox="1">
            <a:spLocks/>
          </p:cNvSpPr>
          <p:nvPr/>
        </p:nvSpPr>
        <p:spPr>
          <a:xfrm>
            <a:off x="5720279" y="395485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 theories or assumptions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Solve practical problems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Support decision-making</a:t>
            </a: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51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D7BA-97F7-0561-2F9A-500B1642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891D5-4BE3-0362-DC8E-CE00D5968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1088869"/>
          </a:xfrm>
        </p:spPr>
        <p:txBody>
          <a:bodyPr/>
          <a:lstStyle/>
          <a:p>
            <a:r>
              <a:rPr lang="en-US" b="1" dirty="0"/>
              <a:t>Research</a:t>
            </a:r>
            <a:r>
              <a:rPr lang="en-US" dirty="0"/>
              <a:t> is a systematic investigation undertaken to establish facts, discover new knowledge, or solve a particular problem. Research generally involves: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60348-74C0-E5BA-A3AB-7BE08EF56AD6}"/>
              </a:ext>
            </a:extLst>
          </p:cNvPr>
          <p:cNvSpPr txBox="1"/>
          <p:nvPr/>
        </p:nvSpPr>
        <p:spPr>
          <a:xfrm>
            <a:off x="854365" y="3346832"/>
            <a:ext cx="6112042" cy="1627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Identifying a problem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Defining the problem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Collecting relevant information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73312-C712-73A0-DE30-838C2B4531D8}"/>
              </a:ext>
            </a:extLst>
          </p:cNvPr>
          <p:cNvSpPr txBox="1"/>
          <p:nvPr/>
        </p:nvSpPr>
        <p:spPr>
          <a:xfrm>
            <a:off x="5853579" y="3600717"/>
            <a:ext cx="611777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Analyzing information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Interpreting findings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Drawing conclusions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3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013D-4443-47B5-9553-7D95F54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1D18-7B7E-F775-58F7-0289FE9C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Systematic: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follows an organized process.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attempts to minimize personal bias.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Empirical: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relies on observations or evidence.</a:t>
            </a: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Logical: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follows appropriate reasoning.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Critical: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evaluates information carefully.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Purposeful: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conducted to answer a question or solve a problem.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3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7187-DBCF-CBAE-42AE-D8427B9D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3718-B943-4256-374E-72620DF4E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1088869"/>
          </a:xfrm>
        </p:spPr>
        <p:txBody>
          <a:bodyPr/>
          <a:lstStyle/>
          <a:p>
            <a:r>
              <a:rPr lang="en-US" b="1" dirty="0"/>
              <a:t>Business research</a:t>
            </a:r>
            <a:r>
              <a:rPr lang="en-US" dirty="0"/>
              <a:t> is the systematic process of collecting, analyzing, and interpreting information to help managers and organizations make better business decisions.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91312-F429-0017-A368-F299492B39E5}"/>
              </a:ext>
            </a:extLst>
          </p:cNvPr>
          <p:cNvSpPr txBox="1"/>
          <p:nvPr/>
        </p:nvSpPr>
        <p:spPr>
          <a:xfrm>
            <a:off x="904589" y="3600717"/>
            <a:ext cx="9897979" cy="347787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marR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+mn-lt"/>
                <a:ea typeface="Times New Roman" panose="02020603050405020304" pitchFamily="18" charset="0"/>
              </a:rPr>
              <a:t>Purpose of Business Research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0" marR="0"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Business research helps organizations: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Identify problems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Identify opportunities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Understand customers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0" dirty="0"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0" dirty="0">
              <a:ea typeface="Aptos" panose="020B0004020202020204" pitchFamily="34" charset="0"/>
            </a:endParaRPr>
          </a:p>
          <a:p>
            <a:pPr marR="0" lvl="0" algn="l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000" kern="0" dirty="0"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Evaluate employees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Improve products and services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Reduce risks</a:t>
            </a:r>
            <a:endParaRPr lang="en-US" sz="2000" kern="100" dirty="0">
              <a:effectLst/>
              <a:latin typeface="+mn-lt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+mn-lt"/>
                <a:ea typeface="Times New Roman" panose="02020603050405020304" pitchFamily="18" charset="0"/>
              </a:rPr>
              <a:t>Make better decisions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329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14A5768-EA51-48A2-8E17-AE20B9FE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D70F1A8-626B-430B-AACC-E280EB946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D9D2887-DD9B-48D0-9844-B5D2024C7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90C04EA-C56F-4932-AB66-F426CACB4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CF894E2-AF43-4E3B-94A7-890F7AD2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1C292B8-EA04-4F65-8D17-4954B29EE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126744D-59AC-407B-977F-9F7B79890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BFD4FA3-B553-4776-83CC-43156375A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45C5FE-691A-4620-9B50-AFE8DBB10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4E186B6-4496-412B-993D-EBA54ACE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7CCFC45-B62F-4FB2-8A1C-24299AB6A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3E987B3-0DB8-4E10-8F2F-939C9975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0CF3A0F-1366-43D4-B9ED-39506390F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3370E57-5DAF-4AD1-A44A-32A93556E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438A8C5-7279-4DA9-B1BA-5A76E020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119694A-5560-4890-99CF-E4B89F5F1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A41929D-D2D8-4211-8E30-449C7F67E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6B496-7BD4-408E-9387-4B2DBD88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F4954B0-8891-4B5C-B5C2-2B098DA9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E2F714F-4C40-46D7-A9B0-5A41FCE1C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B45C2AB-7F9E-4A2B-845D-39DA52F78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7540879-E48F-44C9-8978-75F20ECA8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99A807C-71D8-48EB-B90A-18ABEC581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7DBB3B2-0577-449E-822F-EC7F39931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E9C75EC-55AD-4526-81DC-A716FD73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C495AC-53AC-46EB-AF18-9F9B72454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476CB3D-FE8C-4CAF-B287-0576A80CC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34B38EE-AF53-4E0C-A55A-A17CC17EF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7DE7212-9D6E-4F4E-A073-5B5B858AF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7C6AD08-49F6-4369-9405-2E06CED9F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4E501EB-B771-494E-8AF3-5350560EB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EA122D9-8BE6-498E-AB20-311EBD5E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Right Triangle 89">
            <a:extLst>
              <a:ext uri="{FF2B5EF4-FFF2-40B4-BE49-F238E27FC236}">
                <a16:creationId xmlns:a16="http://schemas.microsoft.com/office/drawing/2014/main" id="{5FB205E9-694A-469E-97E7-7339DE0BC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3591" y="-2841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532B2-216B-613A-F6C6-C61C94C1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91" y="725951"/>
            <a:ext cx="4916971" cy="1442463"/>
          </a:xfrm>
        </p:spPr>
        <p:txBody>
          <a:bodyPr>
            <a:normAutofit/>
          </a:bodyPr>
          <a:lstStyle/>
          <a:p>
            <a:r>
              <a:rPr lang="en-US" dirty="0"/>
              <a:t>Objectives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2BF74-EB89-BA17-B3B8-CC04CFE42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652" y="2340130"/>
            <a:ext cx="6606519" cy="3803271"/>
          </a:xfrm>
        </p:spPr>
        <p:txBody>
          <a:bodyPr>
            <a:norm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basic objective of research is to 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discover answers to questions through scientific procedures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600" kern="0" dirty="0"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600" dirty="0"/>
              <a:t>Research objectives can be classified into several major categories such as:</a:t>
            </a:r>
          </a:p>
          <a:p>
            <a:pPr marL="57150" indent="-285750">
              <a:lnSpc>
                <a:spcPct val="100000"/>
              </a:lnSpc>
              <a:spcAft>
                <a:spcPts val="800"/>
              </a:spcAft>
            </a:pPr>
            <a:r>
              <a:rPr lang="en-US" sz="1600" dirty="0"/>
              <a:t>Exploratory / Formulative Research</a:t>
            </a:r>
          </a:p>
          <a:p>
            <a:pPr marL="57150" indent="-285750">
              <a:lnSpc>
                <a:spcPct val="100000"/>
              </a:lnSpc>
              <a:spcAft>
                <a:spcPts val="800"/>
              </a:spcAft>
            </a:pPr>
            <a:r>
              <a:rPr lang="en-US" sz="1600" dirty="0"/>
              <a:t>Descriptive Research</a:t>
            </a:r>
          </a:p>
          <a:p>
            <a:pPr marL="57150" indent="-285750">
              <a:lnSpc>
                <a:spcPct val="100000"/>
              </a:lnSpc>
              <a:spcAft>
                <a:spcPts val="800"/>
              </a:spcAft>
            </a:pPr>
            <a:r>
              <a:rPr lang="en-US" sz="1600" dirty="0"/>
              <a:t>Diagnostic Research</a:t>
            </a:r>
          </a:p>
          <a:p>
            <a:pPr marL="57150" indent="-285750">
              <a:lnSpc>
                <a:spcPct val="100000"/>
              </a:lnSpc>
              <a:spcAft>
                <a:spcPts val="8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Hypothesis-Testing Research</a:t>
            </a:r>
            <a:endParaRPr lang="en-US" sz="1600" dirty="0"/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endParaRPr lang="en-US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DF17F028-E2AE-7B61-4AE9-132E014D3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79" y="1235910"/>
            <a:ext cx="3821730" cy="382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4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4A5768-EA51-48A2-8E17-AE20B9FE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70F1A8-626B-430B-AACC-E280EB946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9D2887-DD9B-48D0-9844-B5D2024C7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90C04EA-C56F-4932-AB66-F426CACB4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F894E2-AF43-4E3B-94A7-890F7AD2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1C292B8-EA04-4F65-8D17-4954B29EE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26744D-59AC-407B-977F-9F7B79890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FD4FA3-B553-4776-83CC-43156375A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45C5FE-691A-4620-9B50-AFE8DBB10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E186B6-4496-412B-993D-EBA54ACE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CCFC45-B62F-4FB2-8A1C-24299AB6A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3E987B3-0DB8-4E10-8F2F-939C9975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CF3A0F-1366-43D4-B9ED-39506390F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3370E57-5DAF-4AD1-A44A-32A93556E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438A8C5-7279-4DA9-B1BA-5A76E020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19694A-5560-4890-99CF-E4B89F5F1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41929D-D2D8-4211-8E30-449C7F67E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346B496-7BD4-408E-9387-4B2DBD88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4954B0-8891-4B5C-B5C2-2B098DA9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F714F-4C40-46D7-A9B0-5A41FCE1C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45C2AB-7F9E-4A2B-845D-39DA52F78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7540879-E48F-44C9-8978-75F20ECA8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9A807C-71D8-48EB-B90A-18ABEC581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DBB3B2-0577-449E-822F-EC7F39931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9C75EC-55AD-4526-81DC-A716FD73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C495AC-53AC-46EB-AF18-9F9B72454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476CB3D-FE8C-4CAF-B287-0576A80CC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34B38EE-AF53-4E0C-A55A-A17CC17EF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7DE7212-9D6E-4F4E-A073-5B5B858AF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C6AD08-49F6-4369-9405-2E06CED9F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4E501EB-B771-494E-8AF3-5350560EB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EA122D9-8BE6-498E-AB20-311EBD5E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5FB205E9-694A-469E-97E7-7339DE0BC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3591" y="-2841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BA586-E132-155D-59F4-F87F101D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91" y="725951"/>
            <a:ext cx="4916971" cy="1442463"/>
          </a:xfrm>
        </p:spPr>
        <p:txBody>
          <a:bodyPr>
            <a:normAutofit/>
          </a:bodyPr>
          <a:lstStyle/>
          <a:p>
            <a:r>
              <a:rPr lang="en-US" dirty="0"/>
              <a:t>Types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EA86-7B3C-6735-B5BA-C4DABD4AF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891" y="2340130"/>
            <a:ext cx="4916971" cy="3803271"/>
          </a:xfrm>
        </p:spPr>
        <p:txBody>
          <a:bodyPr>
            <a:normAutofit/>
          </a:bodyPr>
          <a:lstStyle/>
          <a:p>
            <a:r>
              <a:rPr lang="en-US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Descriptive and Analytical Research</a:t>
            </a:r>
          </a:p>
          <a:p>
            <a:r>
              <a:rPr lang="en-US"/>
              <a:t>Applied and Fundamental Research</a:t>
            </a:r>
          </a:p>
          <a:p>
            <a:r>
              <a:rPr lang="en-US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Quantitative and Qualitative Research</a:t>
            </a:r>
          </a:p>
          <a:p>
            <a:r>
              <a:rPr lang="en-US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Conceptual and Empirical Research</a:t>
            </a:r>
            <a:endParaRPr lang="en-US"/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DC937032-E986-A047-34D1-659F68482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78" y="1235909"/>
            <a:ext cx="4412205" cy="441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2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4AD2-CD2D-FA1B-1B0F-8675C95A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and Analytical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72350-A709-F416-D15F-4895E960B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1097798" cy="4385134"/>
          </a:xfrm>
        </p:spPr>
        <p:txBody>
          <a:bodyPr numCol="2">
            <a:normAutofit fontScale="92500" lnSpcReduction="1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Descriptive Research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Descriptive research describes the existing condition or characteristics of a phenomenon.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b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Measuring the level of job satisfaction among university teachers.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70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7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Analytical Research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7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Analytical research uses available facts or information and critically analyzes them to understand relationships, patterns, or causes.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b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Analyzing employee turnover data to identify the factors associated with employee turnover.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7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41E3-F3D6-138D-D430-DC95BB66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A46A64-B56D-2F22-9AAA-E17AAA48F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471900"/>
              </p:ext>
            </p:extLst>
          </p:nvPr>
        </p:nvGraphicFramePr>
        <p:xfrm>
          <a:off x="806245" y="2556388"/>
          <a:ext cx="10325000" cy="3323300"/>
        </p:xfrm>
        <a:graphic>
          <a:graphicData uri="http://schemas.openxmlformats.org/drawingml/2006/table">
            <a:tbl>
              <a:tblPr firstRow="1" firstCol="1" bandRow="1"/>
              <a:tblGrid>
                <a:gridCol w="5162500">
                  <a:extLst>
                    <a:ext uri="{9D8B030D-6E8A-4147-A177-3AD203B41FA5}">
                      <a16:colId xmlns:a16="http://schemas.microsoft.com/office/drawing/2014/main" val="1410546993"/>
                    </a:ext>
                  </a:extLst>
                </a:gridCol>
                <a:gridCol w="5162500">
                  <a:extLst>
                    <a:ext uri="{9D8B030D-6E8A-4147-A177-3AD203B41FA5}">
                      <a16:colId xmlns:a16="http://schemas.microsoft.com/office/drawing/2014/main" val="1532520559"/>
                    </a:ext>
                  </a:extLst>
                </a:gridCol>
              </a:tblGrid>
              <a:tr h="6646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Descriptive Research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Analytical Research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420005"/>
                  </a:ext>
                </a:extLst>
              </a:tr>
              <a:tr h="6646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Describes what exists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Analyzes available information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551108"/>
                  </a:ext>
                </a:extLst>
              </a:tr>
              <a:tr h="6646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Focuses on characteristics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Focuses on relationships, patterns, or explanations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571227"/>
                  </a:ext>
                </a:extLst>
              </a:tr>
              <a:tr h="6646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Answers “What?”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Often explores “Why?” or “How?”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641777"/>
                  </a:ext>
                </a:extLst>
              </a:tr>
              <a:tr h="6646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Example: Employee satisfaction survey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Example: Analysis of factors affecting satisfaction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202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81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02F1-B215-8433-336C-81331993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and Fundamental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95A1-EC70-39B6-74C7-4942676D9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Fundamental Research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Fundamental research is conducted mainly to </a:t>
            </a: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 knowledge and develop theories</a:t>
            </a: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may not have an immediate practical application.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b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Studying how psychological safety develops within teams to improve theoretical understanding.</a:t>
            </a:r>
            <a:endParaRPr lang="en-US" sz="2900" kern="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 Research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 research is conducted to </a:t>
            </a: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solve a specific practical problem</a:t>
            </a: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b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company studies why employee turnover is increasing and develops strategies to reduce turnover.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34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421D-E34B-ED04-AFD6-FA252470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and Qualitative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70B5-3526-4B54-8DDD-10047ADA3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r>
              <a:rPr lang="en-US" b="1" dirty="0"/>
              <a:t>Quantitative Research: </a:t>
            </a:r>
            <a:r>
              <a:rPr lang="en-US" dirty="0"/>
              <a:t>Quantitative research deals primarily with numerical data and measurable variables.</a:t>
            </a:r>
          </a:p>
          <a:p>
            <a:r>
              <a:rPr lang="en-US" dirty="0"/>
              <a:t>Common techniques include:</a:t>
            </a:r>
          </a:p>
          <a:p>
            <a:r>
              <a:rPr lang="en-US" dirty="0"/>
              <a:t>Surveys</a:t>
            </a:r>
          </a:p>
          <a:p>
            <a:r>
              <a:rPr lang="en-US" dirty="0"/>
              <a:t>Structured questionnaires</a:t>
            </a:r>
          </a:p>
          <a:p>
            <a:r>
              <a:rPr lang="en-US" dirty="0"/>
              <a:t>Statistical analysis</a:t>
            </a:r>
          </a:p>
          <a:p>
            <a:r>
              <a:rPr lang="en-US" dirty="0"/>
              <a:t>Experiments</a:t>
            </a:r>
          </a:p>
          <a:p>
            <a:r>
              <a:rPr lang="en-US" b="1" dirty="0"/>
              <a:t>Example: </a:t>
            </a:r>
            <a:r>
              <a:rPr lang="en-US" dirty="0"/>
              <a:t>Collecting data from 500 employees and using regression analysis to determine whether leadership affects employee performance.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Qualitative Research: </a:t>
            </a:r>
            <a:r>
              <a:rPr lang="en-US" dirty="0"/>
              <a:t>Qualitative research focuses on: Experiences, Perceptions, Opinions, Behaviors and Interpretations. </a:t>
            </a:r>
          </a:p>
          <a:p>
            <a:r>
              <a:rPr lang="en-US" dirty="0"/>
              <a:t>Common techniques include:</a:t>
            </a:r>
          </a:p>
          <a:p>
            <a:r>
              <a:rPr lang="en-US" dirty="0"/>
              <a:t>Interviews</a:t>
            </a:r>
          </a:p>
          <a:p>
            <a:r>
              <a:rPr lang="en-US" dirty="0"/>
              <a:t>Focus groups</a:t>
            </a:r>
          </a:p>
          <a:p>
            <a:r>
              <a:rPr lang="en-US" dirty="0"/>
              <a:t>Observation</a:t>
            </a:r>
          </a:p>
          <a:p>
            <a:r>
              <a:rPr lang="en-US" dirty="0"/>
              <a:t>Case studies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Interviewing 20 employees to understand their experiences of workplace bullying.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259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FF08-EDE9-C63C-F72A-46B9211E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and Empirical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30FA-623F-BFE2-6E0B-85E9AF574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sz="1600" b="1" dirty="0"/>
              <a:t>Conceptual Research</a:t>
            </a:r>
          </a:p>
          <a:p>
            <a:r>
              <a:rPr lang="en-US" sz="1600" dirty="0"/>
              <a:t>Conceptual research focuses mainly on:</a:t>
            </a:r>
          </a:p>
          <a:p>
            <a:r>
              <a:rPr lang="en-US" sz="1600" dirty="0"/>
              <a:t>Concepts</a:t>
            </a:r>
          </a:p>
          <a:p>
            <a:r>
              <a:rPr lang="en-US" sz="1600" dirty="0"/>
              <a:t>Ideas</a:t>
            </a:r>
          </a:p>
          <a:p>
            <a:r>
              <a:rPr lang="en-US" sz="1600" dirty="0"/>
              <a:t>Theories</a:t>
            </a:r>
          </a:p>
          <a:p>
            <a:r>
              <a:rPr lang="en-US" sz="1600" dirty="0"/>
              <a:t>Relationships between concepts</a:t>
            </a:r>
          </a:p>
          <a:p>
            <a:r>
              <a:rPr lang="en-US" sz="1600" dirty="0"/>
              <a:t>Example:</a:t>
            </a:r>
            <a:br>
              <a:rPr lang="en-US" sz="1600" dirty="0"/>
            </a:br>
            <a:r>
              <a:rPr lang="en-US" sz="1600" dirty="0"/>
              <a:t>Developing a conceptual framework explaining how leadership may influence employee creativity.</a:t>
            </a:r>
          </a:p>
          <a:p>
            <a:r>
              <a:rPr lang="en-US" sz="1600" b="1" dirty="0"/>
              <a:t>Empirical Research</a:t>
            </a:r>
          </a:p>
          <a:p>
            <a:r>
              <a:rPr lang="en-US" sz="1600" dirty="0"/>
              <a:t>Empirical research is based on observed or measured evidence.</a:t>
            </a:r>
          </a:p>
          <a:p>
            <a:r>
              <a:rPr lang="en-US" sz="1600" dirty="0"/>
              <a:t>Example:</a:t>
            </a:r>
            <a:br>
              <a:rPr lang="en-US" sz="1600" dirty="0"/>
            </a:br>
            <a:r>
              <a:rPr lang="en-US" sz="1600" dirty="0"/>
              <a:t>Collecting survey responses from 400 employees and testing whether leadership actually influences creativity.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58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52BC-0538-C4EC-EC67-2C36362B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0BAD34-60E1-3AEC-0F4D-93D47F20E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082746"/>
              </p:ext>
            </p:extLst>
          </p:nvPr>
        </p:nvGraphicFramePr>
        <p:xfrm>
          <a:off x="850583" y="2832576"/>
          <a:ext cx="10325100" cy="29194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62550">
                  <a:extLst>
                    <a:ext uri="{9D8B030D-6E8A-4147-A177-3AD203B41FA5}">
                      <a16:colId xmlns:a16="http://schemas.microsoft.com/office/drawing/2014/main" val="1294377109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1532830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</a:rPr>
                        <a:t>Conceptual Research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Empirical Research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575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Focuses on concepts and theories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Focuses on observed evidence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135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Mainly idea/theory based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Data based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53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Develops conceptual explanations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Tests or examines relationships using evidence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744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</a:rPr>
                        <a:t>Example: Developing a conceptual model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</a:rPr>
                        <a:t>Example: Testing the model using survey data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1205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44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9510-B050-01B7-8291-ED68649C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42FD0-EFFF-C3BE-411B-C946C0289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research should satisfy several important conditions.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9.1 Clearly Defined Purpose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purpose of the research should be clearly stated.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researcher should know: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is being studied?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is it being studied?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question is being answered?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1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DBDE-9891-F097-9CE8-28BC2BF0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CA5D-2FE4-72C6-4BE7-B0BAFD76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1401-EA63-BCE9-DFDB-92CC785F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3968072"/>
          </a:xfrm>
        </p:spPr>
        <p:txBody>
          <a:bodyPr>
            <a:normAutofit fontScale="62500" lnSpcReduction="2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research should satisfy several important conditions.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9.2 Clearly Defined Research Problem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research problem should be: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Clear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Specific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Researchable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Relevant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broad topic should be narrowed into a specific research problem.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81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F225-456A-4703-0333-42C05C4F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CC2-F746-4E54-1BC3-84277C59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0AE9-8C6B-E3BF-AB28-55266F788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research should satisfy several important conditions.</a:t>
            </a: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/>
              <a:t>9.3 Appropriate Research Design</a:t>
            </a:r>
            <a:endParaRPr lang="en-US" dirty="0"/>
          </a:p>
          <a:p>
            <a:r>
              <a:rPr lang="en-US" dirty="0"/>
              <a:t>The research design should be appropriate for the research problem.</a:t>
            </a:r>
          </a:p>
          <a:p>
            <a:r>
              <a:rPr lang="en-US" dirty="0"/>
              <a:t>For example:</a:t>
            </a:r>
          </a:p>
          <a:p>
            <a:pPr lvl="0"/>
            <a:r>
              <a:rPr lang="en-US" dirty="0"/>
              <a:t>Survey design → measuring attitudes or opinions</a:t>
            </a:r>
          </a:p>
          <a:p>
            <a:pPr lvl="0"/>
            <a:r>
              <a:rPr lang="en-US" dirty="0"/>
              <a:t>Experimental design → examining effects under controlled conditions</a:t>
            </a:r>
          </a:p>
          <a:p>
            <a:pPr lvl="0"/>
            <a:r>
              <a:rPr lang="en-US" dirty="0"/>
              <a:t>Case study → detailed investigation of a particular case</a:t>
            </a:r>
          </a:p>
          <a:p>
            <a:pPr lvl="0"/>
            <a:r>
              <a:rPr lang="en-US" dirty="0"/>
              <a:t>Qualitative design → understanding experiences and meanings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1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7C36-F90F-4029-473D-B8D1943B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300C-F71B-87FC-7A19-FDD66B4E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6C84C-6236-FEB0-C4FD-CB0A96F32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research should satisfy several important conditions.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9.4 Appropriate Data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researcher should collect data that are: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Relevant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Sufficient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Accurate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Appropriate for answering the research question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77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115A-BB08-AAB8-B726-3629E5E7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46ED-0D05-5A43-CC63-FF54F8D57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103F3-884A-5B4C-5EBF-9952BAFE8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research should satisfy several important conditions.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9.5 Objectivity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researcher should avoid allowing personal opinions or preferences to influence the research.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b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a researcher expects training to improve performance, the researcher must still report the result honestly if the data show no significant effect.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51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00B6-FE03-52BC-C857-D673F4AF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DD82-3C2B-F492-76A6-4E6D44FE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98A8-8EB6-5A40-D77B-FC8DC074A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9.6 Validity and Reliability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Validity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Validity</a:t>
            </a: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refers to whether a measurement actually measures what it is intended to measure.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b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a questionnaire claims to measure job satisfaction, its items should actually represent job satisfaction.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</a:t>
            </a: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refers to the consistency of a measurement.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9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reliable instrument should produce reasonably consistent results under similar conditions.</a:t>
            </a:r>
            <a:endParaRPr lang="en-US" sz="29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95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01BE-E777-6E2B-68EC-14D59582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93A2-5E35-F101-FBD8-04387DF1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B877-00A8-CC51-3E37-FA2D93140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9.7 Appropriate Data Analysis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researcher should select analysis techniques appropriate to: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objectives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questions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type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marR="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design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26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3F6A-87AC-88BA-51F8-C13D2833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0EA7-E825-966B-1678-47801557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4A39C-55A3-6981-197D-2D8E34855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9.8 Ethical Conduct</a:t>
            </a:r>
            <a:endParaRPr lang="en-US" dirty="0"/>
          </a:p>
          <a:p>
            <a:r>
              <a:rPr lang="en-US" dirty="0"/>
              <a:t>Good research should follow ethical principles.</a:t>
            </a:r>
          </a:p>
          <a:p>
            <a:r>
              <a:rPr lang="en-US" dirty="0"/>
              <a:t>Important principles include:</a:t>
            </a:r>
          </a:p>
          <a:p>
            <a:pPr lvl="0"/>
            <a:r>
              <a:rPr lang="en-US" dirty="0"/>
              <a:t>Honesty</a:t>
            </a:r>
          </a:p>
          <a:p>
            <a:pPr lvl="0"/>
            <a:r>
              <a:rPr lang="en-US" dirty="0"/>
              <a:t>Informed consent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Confidentiality</a:t>
            </a:r>
          </a:p>
          <a:p>
            <a:pPr lvl="0"/>
            <a:r>
              <a:rPr lang="en-US" dirty="0"/>
              <a:t>Privacy</a:t>
            </a:r>
          </a:p>
          <a:p>
            <a:pPr lvl="0"/>
            <a:r>
              <a:rPr lang="en-US" dirty="0"/>
              <a:t>Protection of participants</a:t>
            </a:r>
          </a:p>
          <a:p>
            <a:pPr lvl="0"/>
            <a:r>
              <a:rPr lang="en-US" dirty="0"/>
              <a:t>Avoiding plagiarism</a:t>
            </a:r>
          </a:p>
          <a:p>
            <a:pPr lvl="0"/>
            <a:r>
              <a:rPr lang="en-US" dirty="0"/>
              <a:t>Avoiding fabrication and falsification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0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A273-DC64-2496-CC6C-A4075257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B5EC-5F90-5C67-5C16-526E713D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Conditions of Good Research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ACF9A-E2C6-E6DE-1F23-6571603A2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9.9 Replicability</a:t>
            </a: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good research study should provide enough information about its procedures so that another researcher can understand and, where appropriate, repeat the study.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study should clearly explain:</a:t>
            </a:r>
          </a:p>
          <a:p>
            <a:pPr lvl="0"/>
            <a:r>
              <a:rPr lang="en-US" dirty="0"/>
              <a:t>Sample</a:t>
            </a:r>
          </a:p>
          <a:p>
            <a:pPr lvl="0"/>
            <a:r>
              <a:rPr lang="en-US" dirty="0"/>
              <a:t>Measurement</a:t>
            </a:r>
          </a:p>
          <a:p>
            <a:pPr lvl="0"/>
            <a:r>
              <a:rPr lang="en-US" dirty="0"/>
              <a:t>Data collection</a:t>
            </a:r>
          </a:p>
          <a:p>
            <a:pPr lvl="0"/>
            <a:r>
              <a:rPr lang="en-US" dirty="0"/>
              <a:t>Research design</a:t>
            </a:r>
          </a:p>
          <a:p>
            <a:pPr lvl="0"/>
            <a:r>
              <a:rPr lang="en-US" dirty="0"/>
              <a:t>Analysis procedures</a:t>
            </a:r>
          </a:p>
          <a:p>
            <a:pPr marL="0" marR="0" algn="l">
              <a:lnSpc>
                <a:spcPct val="150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506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E6A5B009-3D01-EB64-1C8A-8ED5BEF1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45" name="Flowchart: Document 44">
            <a:extLst>
              <a:ext uri="{FF2B5EF4-FFF2-40B4-BE49-F238E27FC236}">
                <a16:creationId xmlns:a16="http://schemas.microsoft.com/office/drawing/2014/main" id="{D22FBD32-C88A-4C1D-BC76-613A93944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04804" y="304807"/>
            <a:ext cx="6858000" cy="6248391"/>
          </a:xfrm>
          <a:prstGeom prst="flowChartDocumen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D48C3-12EA-291C-CF02-D7895EE5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2"/>
            <a:ext cx="4225893" cy="30772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Thank You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3499997-BC46-4896-AEA5-37EC629D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DA461E0-415F-4E8B-8B08-2C975693D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D1EDD03-89DD-456E-BB53-FA43BE25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2A76E89-A44E-4207-8F8A-F853ED8A3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C81BA9D-E2BC-4AD2-B816-5DE100BC8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A155025-B3E7-46D2-B556-80A8E9083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AAE4CEE-0410-46B5-B649-E3754C539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86DDB39-DB80-43C8-A5AF-24AE5841B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F3BE8C2-40CB-46C0-9536-BA1C51AF9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E2D5D2E-1F38-48BC-B038-9DA190B8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89E300-BEF0-4977-919B-F3367CF87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2B4899-7298-454D-90B9-382ACAEA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86FBE75-F4D3-48DD-85D2-593D0C1B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E586789-549A-4D87-8967-6DCD5DEDF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66293A2-B541-4BE7-8C99-1B730BB4D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2938820-6D84-479D-B608-354903781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8EE07FC-6A61-4C78-BAF6-86E2FD543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C4E5A61-6E0E-44DD-B47E-9547F3A5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8B355A-1131-4815-881C-3949360F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73D903E-5A72-42B5-B741-95081B06E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5769BB5-F1CF-4A57-A2E8-2ED9F9DDF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4F9ABF1-4E55-4D70-ACF2-DB7D62C7D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FD75E62-63B6-4237-88D5-02A90DDFA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6A41C83-58E2-4EE6-864C-DB7DE375A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1162541-E8F8-4926-91B8-AD9F51415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3E6FB3D-A8E2-4B96-B87B-EEEC499F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0766009-515D-4494-BFF6-AC554CBCD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4C1372F-2169-48C6-8AEB-411E8405B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73FA4F1-4239-4336-BB84-8E3BBCD7F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E90E0AA-C864-445E-AC17-96D1C90C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D4D2F48-C2BF-4C1C-82B9-FEB42F3C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BB855D-6213-4C07-A21A-F0250B89F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653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1060</Words>
  <Application>Microsoft Office PowerPoint</Application>
  <PresentationFormat>Widescreen</PresentationFormat>
  <Paragraphs>204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Grandview</vt:lpstr>
      <vt:lpstr>Symbol</vt:lpstr>
      <vt:lpstr>Times New Roman</vt:lpstr>
      <vt:lpstr>Wingdings</vt:lpstr>
      <vt:lpstr>CosineVTI</vt:lpstr>
      <vt:lpstr>Chapter 1</vt:lpstr>
      <vt:lpstr>Introduction</vt:lpstr>
      <vt:lpstr>What is Research</vt:lpstr>
      <vt:lpstr>Characteristics</vt:lpstr>
      <vt:lpstr>Business Research</vt:lpstr>
      <vt:lpstr>Objectives of Research</vt:lpstr>
      <vt:lpstr>Types of Research</vt:lpstr>
      <vt:lpstr>Descriptive and Analytical Research</vt:lpstr>
      <vt:lpstr>Difference</vt:lpstr>
      <vt:lpstr>Applied and Fundamental Research</vt:lpstr>
      <vt:lpstr>Quantitative and Qualitative Research</vt:lpstr>
      <vt:lpstr>Conceptual and Empirical Research</vt:lpstr>
      <vt:lpstr>Difference</vt:lpstr>
      <vt:lpstr>Conditions of Good Research</vt:lpstr>
      <vt:lpstr>Conditions of Good Research</vt:lpstr>
      <vt:lpstr>Conditions of Good Research</vt:lpstr>
      <vt:lpstr>Conditions of Good Research</vt:lpstr>
      <vt:lpstr>Conditions of Good Research</vt:lpstr>
      <vt:lpstr>Conditions of Good Research</vt:lpstr>
      <vt:lpstr>Conditions of Good Research</vt:lpstr>
      <vt:lpstr>Conditions of Good Research</vt:lpstr>
      <vt:lpstr>Conditions of Good Research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islam</dc:creator>
  <cp:lastModifiedBy>anik islam</cp:lastModifiedBy>
  <cp:revision>8</cp:revision>
  <dcterms:created xsi:type="dcterms:W3CDTF">2026-09-02T01:16:15Z</dcterms:created>
  <dcterms:modified xsi:type="dcterms:W3CDTF">2026-09-02T02:04:38Z</dcterms:modified>
</cp:coreProperties>
</file>