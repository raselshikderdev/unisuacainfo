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2" r:id="rId7"/>
    <p:sldId id="264" r:id="rId8"/>
    <p:sldId id="270" r:id="rId9"/>
    <p:sldId id="268" r:id="rId10"/>
    <p:sldId id="273" r:id="rId11"/>
    <p:sldId id="274" r:id="rId12"/>
    <p:sldId id="269" r:id="rId13"/>
    <p:sldId id="271" r:id="rId14"/>
    <p:sldId id="263" r:id="rId15"/>
    <p:sldId id="266" r:id="rId16"/>
    <p:sldId id="265" r:id="rId17"/>
    <p:sldId id="267" r:id="rId18"/>
    <p:sldId id="275" r:id="rId19"/>
    <p:sldId id="276"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C605C-0E66-4BB6-BB32-32A2D186AB31}" type="doc">
      <dgm:prSet loTypeId="urn:microsoft.com/office/officeart/2008/layout/LinedList" loCatId="list" qsTypeId="urn:microsoft.com/office/officeart/2005/8/quickstyle/simple1#2" qsCatId="simple" csTypeId="urn:microsoft.com/office/officeart/2005/8/colors/colorful1#1" csCatId="colorful"/>
      <dgm:spPr/>
      <dgm:t>
        <a:bodyPr/>
        <a:lstStyle/>
        <a:p>
          <a:endParaRPr lang="en-US"/>
        </a:p>
      </dgm:t>
    </dgm:pt>
    <dgm:pt modelId="{A9C8A2EA-3CC4-43EE-995A-15C1724D41ED}">
      <dgm:prSet/>
      <dgm:spPr/>
      <dgm:t>
        <a:bodyPr/>
        <a:lstStyle/>
        <a:p>
          <a:r>
            <a:rPr lang="en-US" b="1"/>
            <a:t>1. Concept and Classification of Research Design</a:t>
          </a:r>
          <a:endParaRPr lang="en-US"/>
        </a:p>
      </dgm:t>
    </dgm:pt>
    <dgm:pt modelId="{6C0E4F9D-BCB8-4B49-ACE1-DFE65CC2C9D1}" type="parTrans" cxnId="{BF8BBAD9-C653-4EB3-9356-363FCB48D96A}">
      <dgm:prSet/>
      <dgm:spPr/>
      <dgm:t>
        <a:bodyPr/>
        <a:lstStyle/>
        <a:p>
          <a:endParaRPr lang="en-US"/>
        </a:p>
      </dgm:t>
    </dgm:pt>
    <dgm:pt modelId="{1EDFF4A9-20FF-4779-8473-CF04BD5BEF11}" type="sibTrans" cxnId="{BF8BBAD9-C653-4EB3-9356-363FCB48D96A}">
      <dgm:prSet/>
      <dgm:spPr/>
      <dgm:t>
        <a:bodyPr/>
        <a:lstStyle/>
        <a:p>
          <a:endParaRPr lang="en-US"/>
        </a:p>
      </dgm:t>
    </dgm:pt>
    <dgm:pt modelId="{03523C3B-DEC6-4231-B3E5-44DDEE8D6C2B}">
      <dgm:prSet/>
      <dgm:spPr/>
      <dgm:t>
        <a:bodyPr/>
        <a:lstStyle/>
        <a:p>
          <a:r>
            <a:rPr lang="en-US" b="1"/>
            <a:t>2. Qualitative and Quantitative Research</a:t>
          </a:r>
          <a:endParaRPr lang="en-US"/>
        </a:p>
      </dgm:t>
    </dgm:pt>
    <dgm:pt modelId="{A64D9913-0BFC-47D0-8F69-B9910F23CC53}" type="parTrans" cxnId="{BE485503-997E-4DEB-B48E-F8405EB05D56}">
      <dgm:prSet/>
      <dgm:spPr/>
      <dgm:t>
        <a:bodyPr/>
        <a:lstStyle/>
        <a:p>
          <a:endParaRPr lang="en-US"/>
        </a:p>
      </dgm:t>
    </dgm:pt>
    <dgm:pt modelId="{1BA1C1D5-3165-4906-8CD9-C8EC58D9DEE1}" type="sibTrans" cxnId="{BE485503-997E-4DEB-B48E-F8405EB05D56}">
      <dgm:prSet/>
      <dgm:spPr/>
      <dgm:t>
        <a:bodyPr/>
        <a:lstStyle/>
        <a:p>
          <a:endParaRPr lang="en-US"/>
        </a:p>
      </dgm:t>
    </dgm:pt>
    <dgm:pt modelId="{861C3047-4415-4041-A812-05058B1EC593}">
      <dgm:prSet/>
      <dgm:spPr/>
      <dgm:t>
        <a:bodyPr/>
        <a:lstStyle/>
        <a:p>
          <a:r>
            <a:rPr lang="en-US" b="1"/>
            <a:t>3. Descriptive Research</a:t>
          </a:r>
          <a:endParaRPr lang="en-US"/>
        </a:p>
      </dgm:t>
    </dgm:pt>
    <dgm:pt modelId="{8460506F-10B7-4407-99FF-2CBC02073F71}" type="parTrans" cxnId="{B10DA0D4-35CE-46FC-8664-2CDFA0E9D458}">
      <dgm:prSet/>
      <dgm:spPr/>
      <dgm:t>
        <a:bodyPr/>
        <a:lstStyle/>
        <a:p>
          <a:endParaRPr lang="en-US"/>
        </a:p>
      </dgm:t>
    </dgm:pt>
    <dgm:pt modelId="{DBC69F70-013A-451C-96D7-7C27A78D7199}" type="sibTrans" cxnId="{B10DA0D4-35CE-46FC-8664-2CDFA0E9D458}">
      <dgm:prSet/>
      <dgm:spPr/>
      <dgm:t>
        <a:bodyPr/>
        <a:lstStyle/>
        <a:p>
          <a:endParaRPr lang="en-US"/>
        </a:p>
      </dgm:t>
    </dgm:pt>
    <dgm:pt modelId="{D8A92182-F729-4A77-A3EB-BDEF35F1C54A}">
      <dgm:prSet/>
      <dgm:spPr/>
      <dgm:t>
        <a:bodyPr/>
        <a:lstStyle/>
        <a:p>
          <a:r>
            <a:rPr lang="en-US" b="1"/>
            <a:t>4. Observation Research</a:t>
          </a:r>
          <a:endParaRPr lang="en-US"/>
        </a:p>
      </dgm:t>
    </dgm:pt>
    <dgm:pt modelId="{FE46F90D-24E4-4D16-867E-3AC87BB187F3}" type="parTrans" cxnId="{3F2062B7-F5F6-4D9B-A4FD-1E0A68FD6BC8}">
      <dgm:prSet/>
      <dgm:spPr/>
      <dgm:t>
        <a:bodyPr/>
        <a:lstStyle/>
        <a:p>
          <a:endParaRPr lang="en-US"/>
        </a:p>
      </dgm:t>
    </dgm:pt>
    <dgm:pt modelId="{6879DCBD-20AE-484F-9352-DA88E738289A}" type="sibTrans" cxnId="{3F2062B7-F5F6-4D9B-A4FD-1E0A68FD6BC8}">
      <dgm:prSet/>
      <dgm:spPr/>
      <dgm:t>
        <a:bodyPr/>
        <a:lstStyle/>
        <a:p>
          <a:endParaRPr lang="en-US"/>
        </a:p>
      </dgm:t>
    </dgm:pt>
    <dgm:pt modelId="{C6150E52-1BA7-4857-BE1E-1BB6DCB54FC7}">
      <dgm:prSet/>
      <dgm:spPr/>
      <dgm:t>
        <a:bodyPr/>
        <a:lstStyle/>
        <a:p>
          <a:r>
            <a:rPr lang="en-US" b="1"/>
            <a:t>5. Experimental Design</a:t>
          </a:r>
          <a:endParaRPr lang="en-US"/>
        </a:p>
      </dgm:t>
    </dgm:pt>
    <dgm:pt modelId="{083573B7-260F-45B3-BFEC-AAF30BA9CD30}" type="parTrans" cxnId="{AAB24ACF-4BDD-467F-A661-C2BFE0DE2442}">
      <dgm:prSet/>
      <dgm:spPr/>
      <dgm:t>
        <a:bodyPr/>
        <a:lstStyle/>
        <a:p>
          <a:endParaRPr lang="en-US"/>
        </a:p>
      </dgm:t>
    </dgm:pt>
    <dgm:pt modelId="{5F6928FA-2800-4474-B993-BF88AAE0FCEC}" type="sibTrans" cxnId="{AAB24ACF-4BDD-467F-A661-C2BFE0DE2442}">
      <dgm:prSet/>
      <dgm:spPr/>
      <dgm:t>
        <a:bodyPr/>
        <a:lstStyle/>
        <a:p>
          <a:endParaRPr lang="en-US"/>
        </a:p>
      </dgm:t>
    </dgm:pt>
    <dgm:pt modelId="{BE0A9EBA-4E64-4A49-9338-78DA6E247DFD}" type="pres">
      <dgm:prSet presAssocID="{844C605C-0E66-4BB6-BB32-32A2D186AB31}" presName="vert0" presStyleCnt="0">
        <dgm:presLayoutVars>
          <dgm:dir/>
          <dgm:animOne val="branch"/>
          <dgm:animLvl val="lvl"/>
        </dgm:presLayoutVars>
      </dgm:prSet>
      <dgm:spPr/>
    </dgm:pt>
    <dgm:pt modelId="{303AD4AA-CD8D-49B1-A189-FB9ACC42D68F}" type="pres">
      <dgm:prSet presAssocID="{A9C8A2EA-3CC4-43EE-995A-15C1724D41ED}" presName="thickLine" presStyleLbl="alignNode1" presStyleIdx="0" presStyleCnt="5"/>
      <dgm:spPr/>
    </dgm:pt>
    <dgm:pt modelId="{7D974117-A5AC-488B-9FF7-2A3ACED97FFC}" type="pres">
      <dgm:prSet presAssocID="{A9C8A2EA-3CC4-43EE-995A-15C1724D41ED}" presName="horz1" presStyleCnt="0"/>
      <dgm:spPr/>
    </dgm:pt>
    <dgm:pt modelId="{F0ABA52F-693B-430C-A3B7-BEC49B542B59}" type="pres">
      <dgm:prSet presAssocID="{A9C8A2EA-3CC4-43EE-995A-15C1724D41ED}" presName="tx1" presStyleLbl="revTx" presStyleIdx="0" presStyleCnt="5"/>
      <dgm:spPr/>
    </dgm:pt>
    <dgm:pt modelId="{9A49DFF0-CFC1-4A80-8711-A187683FBBD7}" type="pres">
      <dgm:prSet presAssocID="{A9C8A2EA-3CC4-43EE-995A-15C1724D41ED}" presName="vert1" presStyleCnt="0"/>
      <dgm:spPr/>
    </dgm:pt>
    <dgm:pt modelId="{B2AB4D40-B40C-47CE-B147-51141693AF9A}" type="pres">
      <dgm:prSet presAssocID="{03523C3B-DEC6-4231-B3E5-44DDEE8D6C2B}" presName="thickLine" presStyleLbl="alignNode1" presStyleIdx="1" presStyleCnt="5"/>
      <dgm:spPr/>
    </dgm:pt>
    <dgm:pt modelId="{D55B5A7E-04E7-4D89-9271-AEB9D3F779A9}" type="pres">
      <dgm:prSet presAssocID="{03523C3B-DEC6-4231-B3E5-44DDEE8D6C2B}" presName="horz1" presStyleCnt="0"/>
      <dgm:spPr/>
    </dgm:pt>
    <dgm:pt modelId="{66375E97-472E-4680-81F4-ACA81CCC0C48}" type="pres">
      <dgm:prSet presAssocID="{03523C3B-DEC6-4231-B3E5-44DDEE8D6C2B}" presName="tx1" presStyleLbl="revTx" presStyleIdx="1" presStyleCnt="5"/>
      <dgm:spPr/>
    </dgm:pt>
    <dgm:pt modelId="{C69CA953-4588-4C82-9D6A-0E46B7B1C85D}" type="pres">
      <dgm:prSet presAssocID="{03523C3B-DEC6-4231-B3E5-44DDEE8D6C2B}" presName="vert1" presStyleCnt="0"/>
      <dgm:spPr/>
    </dgm:pt>
    <dgm:pt modelId="{B3AE5738-8948-4B58-ADCA-1A04D9A4840E}" type="pres">
      <dgm:prSet presAssocID="{861C3047-4415-4041-A812-05058B1EC593}" presName="thickLine" presStyleLbl="alignNode1" presStyleIdx="2" presStyleCnt="5"/>
      <dgm:spPr/>
    </dgm:pt>
    <dgm:pt modelId="{4E97082B-E55D-42E2-9BAA-7A8708901085}" type="pres">
      <dgm:prSet presAssocID="{861C3047-4415-4041-A812-05058B1EC593}" presName="horz1" presStyleCnt="0"/>
      <dgm:spPr/>
    </dgm:pt>
    <dgm:pt modelId="{FF36D18A-01BF-4D8E-8389-FDE82C588E2B}" type="pres">
      <dgm:prSet presAssocID="{861C3047-4415-4041-A812-05058B1EC593}" presName="tx1" presStyleLbl="revTx" presStyleIdx="2" presStyleCnt="5"/>
      <dgm:spPr/>
    </dgm:pt>
    <dgm:pt modelId="{D11D107D-EDA2-45D6-B74F-8016ED58F035}" type="pres">
      <dgm:prSet presAssocID="{861C3047-4415-4041-A812-05058B1EC593}" presName="vert1" presStyleCnt="0"/>
      <dgm:spPr/>
    </dgm:pt>
    <dgm:pt modelId="{9FCAA9C4-93B4-4A0F-B2E9-6EE3C95D5C80}" type="pres">
      <dgm:prSet presAssocID="{D8A92182-F729-4A77-A3EB-BDEF35F1C54A}" presName="thickLine" presStyleLbl="alignNode1" presStyleIdx="3" presStyleCnt="5"/>
      <dgm:spPr/>
    </dgm:pt>
    <dgm:pt modelId="{821E0080-E018-436C-838F-909E6BFEC755}" type="pres">
      <dgm:prSet presAssocID="{D8A92182-F729-4A77-A3EB-BDEF35F1C54A}" presName="horz1" presStyleCnt="0"/>
      <dgm:spPr/>
    </dgm:pt>
    <dgm:pt modelId="{2F6FBF09-6DC2-4D41-8C34-F0EF9EFB3445}" type="pres">
      <dgm:prSet presAssocID="{D8A92182-F729-4A77-A3EB-BDEF35F1C54A}" presName="tx1" presStyleLbl="revTx" presStyleIdx="3" presStyleCnt="5"/>
      <dgm:spPr/>
    </dgm:pt>
    <dgm:pt modelId="{5C828BD7-449E-4951-A1BE-831E008161F9}" type="pres">
      <dgm:prSet presAssocID="{D8A92182-F729-4A77-A3EB-BDEF35F1C54A}" presName="vert1" presStyleCnt="0"/>
      <dgm:spPr/>
    </dgm:pt>
    <dgm:pt modelId="{93367D12-ABB0-46C4-B729-0F1320408C9A}" type="pres">
      <dgm:prSet presAssocID="{C6150E52-1BA7-4857-BE1E-1BB6DCB54FC7}" presName="thickLine" presStyleLbl="alignNode1" presStyleIdx="4" presStyleCnt="5"/>
      <dgm:spPr/>
    </dgm:pt>
    <dgm:pt modelId="{74047FD9-C481-4D40-9D39-2D8F8666A984}" type="pres">
      <dgm:prSet presAssocID="{C6150E52-1BA7-4857-BE1E-1BB6DCB54FC7}" presName="horz1" presStyleCnt="0"/>
      <dgm:spPr/>
    </dgm:pt>
    <dgm:pt modelId="{3B1A46A6-E667-41C0-8DC0-8677AD175EB8}" type="pres">
      <dgm:prSet presAssocID="{C6150E52-1BA7-4857-BE1E-1BB6DCB54FC7}" presName="tx1" presStyleLbl="revTx" presStyleIdx="4" presStyleCnt="5"/>
      <dgm:spPr/>
    </dgm:pt>
    <dgm:pt modelId="{DD997954-0335-4270-9CC4-15F243D830BC}" type="pres">
      <dgm:prSet presAssocID="{C6150E52-1BA7-4857-BE1E-1BB6DCB54FC7}" presName="vert1" presStyleCnt="0"/>
      <dgm:spPr/>
    </dgm:pt>
  </dgm:ptLst>
  <dgm:cxnLst>
    <dgm:cxn modelId="{BE485503-997E-4DEB-B48E-F8405EB05D56}" srcId="{844C605C-0E66-4BB6-BB32-32A2D186AB31}" destId="{03523C3B-DEC6-4231-B3E5-44DDEE8D6C2B}" srcOrd="1" destOrd="0" parTransId="{A64D9913-0BFC-47D0-8F69-B9910F23CC53}" sibTransId="{1BA1C1D5-3165-4906-8CD9-C8EC58D9DEE1}"/>
    <dgm:cxn modelId="{F1B9300F-9350-44BF-9038-3C410CF7F57A}" type="presOf" srcId="{A9C8A2EA-3CC4-43EE-995A-15C1724D41ED}" destId="{F0ABA52F-693B-430C-A3B7-BEC49B542B59}" srcOrd="0" destOrd="0" presId="urn:microsoft.com/office/officeart/2008/layout/LinedList"/>
    <dgm:cxn modelId="{FD42871E-03F5-43EF-AD3C-D035848E6182}" type="presOf" srcId="{844C605C-0E66-4BB6-BB32-32A2D186AB31}" destId="{BE0A9EBA-4E64-4A49-9338-78DA6E247DFD}" srcOrd="0" destOrd="0" presId="urn:microsoft.com/office/officeart/2008/layout/LinedList"/>
    <dgm:cxn modelId="{0B9B60A6-6774-4C15-8C9E-6C36021BF74D}" type="presOf" srcId="{03523C3B-DEC6-4231-B3E5-44DDEE8D6C2B}" destId="{66375E97-472E-4680-81F4-ACA81CCC0C48}" srcOrd="0" destOrd="0" presId="urn:microsoft.com/office/officeart/2008/layout/LinedList"/>
    <dgm:cxn modelId="{192F52B0-0A87-4530-8E49-1F6915910140}" type="presOf" srcId="{D8A92182-F729-4A77-A3EB-BDEF35F1C54A}" destId="{2F6FBF09-6DC2-4D41-8C34-F0EF9EFB3445}" srcOrd="0" destOrd="0" presId="urn:microsoft.com/office/officeart/2008/layout/LinedList"/>
    <dgm:cxn modelId="{3F2062B7-F5F6-4D9B-A4FD-1E0A68FD6BC8}" srcId="{844C605C-0E66-4BB6-BB32-32A2D186AB31}" destId="{D8A92182-F729-4A77-A3EB-BDEF35F1C54A}" srcOrd="3" destOrd="0" parTransId="{FE46F90D-24E4-4D16-867E-3AC87BB187F3}" sibTransId="{6879DCBD-20AE-484F-9352-DA88E738289A}"/>
    <dgm:cxn modelId="{AAB24ACF-4BDD-467F-A661-C2BFE0DE2442}" srcId="{844C605C-0E66-4BB6-BB32-32A2D186AB31}" destId="{C6150E52-1BA7-4857-BE1E-1BB6DCB54FC7}" srcOrd="4" destOrd="0" parTransId="{083573B7-260F-45B3-BFEC-AAF30BA9CD30}" sibTransId="{5F6928FA-2800-4474-B993-BF88AAE0FCEC}"/>
    <dgm:cxn modelId="{B10DA0D4-35CE-46FC-8664-2CDFA0E9D458}" srcId="{844C605C-0E66-4BB6-BB32-32A2D186AB31}" destId="{861C3047-4415-4041-A812-05058B1EC593}" srcOrd="2" destOrd="0" parTransId="{8460506F-10B7-4407-99FF-2CBC02073F71}" sibTransId="{DBC69F70-013A-451C-96D7-7C27A78D7199}"/>
    <dgm:cxn modelId="{BF8BBAD9-C653-4EB3-9356-363FCB48D96A}" srcId="{844C605C-0E66-4BB6-BB32-32A2D186AB31}" destId="{A9C8A2EA-3CC4-43EE-995A-15C1724D41ED}" srcOrd="0" destOrd="0" parTransId="{6C0E4F9D-BCB8-4B49-ACE1-DFE65CC2C9D1}" sibTransId="{1EDFF4A9-20FF-4779-8473-CF04BD5BEF11}"/>
    <dgm:cxn modelId="{6AE8D6E2-EF14-4DAE-A85A-8244CA226143}" type="presOf" srcId="{C6150E52-1BA7-4857-BE1E-1BB6DCB54FC7}" destId="{3B1A46A6-E667-41C0-8DC0-8677AD175EB8}" srcOrd="0" destOrd="0" presId="urn:microsoft.com/office/officeart/2008/layout/LinedList"/>
    <dgm:cxn modelId="{AF1A69EB-7408-43F6-A85F-C6E0F1E4D0F5}" type="presOf" srcId="{861C3047-4415-4041-A812-05058B1EC593}" destId="{FF36D18A-01BF-4D8E-8389-FDE82C588E2B}" srcOrd="0" destOrd="0" presId="urn:microsoft.com/office/officeart/2008/layout/LinedList"/>
    <dgm:cxn modelId="{A40F3E56-18FA-49C0-B98A-C3C7D76508AE}" type="presParOf" srcId="{BE0A9EBA-4E64-4A49-9338-78DA6E247DFD}" destId="{303AD4AA-CD8D-49B1-A189-FB9ACC42D68F}" srcOrd="0" destOrd="0" presId="urn:microsoft.com/office/officeart/2008/layout/LinedList"/>
    <dgm:cxn modelId="{C0506557-14C9-4A6D-9DD7-B2044AC283B3}" type="presParOf" srcId="{BE0A9EBA-4E64-4A49-9338-78DA6E247DFD}" destId="{7D974117-A5AC-488B-9FF7-2A3ACED97FFC}" srcOrd="1" destOrd="0" presId="urn:microsoft.com/office/officeart/2008/layout/LinedList"/>
    <dgm:cxn modelId="{19C53A6E-EC72-419E-9C05-D6980CC388B8}" type="presParOf" srcId="{7D974117-A5AC-488B-9FF7-2A3ACED97FFC}" destId="{F0ABA52F-693B-430C-A3B7-BEC49B542B59}" srcOrd="0" destOrd="0" presId="urn:microsoft.com/office/officeart/2008/layout/LinedList"/>
    <dgm:cxn modelId="{D4B5EA04-4CF7-4D99-92CC-9DFCD512BC5E}" type="presParOf" srcId="{7D974117-A5AC-488B-9FF7-2A3ACED97FFC}" destId="{9A49DFF0-CFC1-4A80-8711-A187683FBBD7}" srcOrd="1" destOrd="0" presId="urn:microsoft.com/office/officeart/2008/layout/LinedList"/>
    <dgm:cxn modelId="{5847FE65-7842-4F45-879A-523D9A6B4AEF}" type="presParOf" srcId="{BE0A9EBA-4E64-4A49-9338-78DA6E247DFD}" destId="{B2AB4D40-B40C-47CE-B147-51141693AF9A}" srcOrd="2" destOrd="0" presId="urn:microsoft.com/office/officeart/2008/layout/LinedList"/>
    <dgm:cxn modelId="{B7AA9C0C-C5DE-4DF9-8DD4-1DFFB6AD0997}" type="presParOf" srcId="{BE0A9EBA-4E64-4A49-9338-78DA6E247DFD}" destId="{D55B5A7E-04E7-4D89-9271-AEB9D3F779A9}" srcOrd="3" destOrd="0" presId="urn:microsoft.com/office/officeart/2008/layout/LinedList"/>
    <dgm:cxn modelId="{EE0E901A-C587-4324-A861-F20959485FAE}" type="presParOf" srcId="{D55B5A7E-04E7-4D89-9271-AEB9D3F779A9}" destId="{66375E97-472E-4680-81F4-ACA81CCC0C48}" srcOrd="0" destOrd="0" presId="urn:microsoft.com/office/officeart/2008/layout/LinedList"/>
    <dgm:cxn modelId="{7045B798-660A-4B84-A29C-B190726D3D53}" type="presParOf" srcId="{D55B5A7E-04E7-4D89-9271-AEB9D3F779A9}" destId="{C69CA953-4588-4C82-9D6A-0E46B7B1C85D}" srcOrd="1" destOrd="0" presId="urn:microsoft.com/office/officeart/2008/layout/LinedList"/>
    <dgm:cxn modelId="{F4BCF6E9-7A0F-46F9-8E6A-DF35CFD99108}" type="presParOf" srcId="{BE0A9EBA-4E64-4A49-9338-78DA6E247DFD}" destId="{B3AE5738-8948-4B58-ADCA-1A04D9A4840E}" srcOrd="4" destOrd="0" presId="urn:microsoft.com/office/officeart/2008/layout/LinedList"/>
    <dgm:cxn modelId="{3B164F64-5735-474F-A77E-BA99090A0A16}" type="presParOf" srcId="{BE0A9EBA-4E64-4A49-9338-78DA6E247DFD}" destId="{4E97082B-E55D-42E2-9BAA-7A8708901085}" srcOrd="5" destOrd="0" presId="urn:microsoft.com/office/officeart/2008/layout/LinedList"/>
    <dgm:cxn modelId="{F6C4AD6B-C243-4EFA-BDF2-74C86A5E6CEF}" type="presParOf" srcId="{4E97082B-E55D-42E2-9BAA-7A8708901085}" destId="{FF36D18A-01BF-4D8E-8389-FDE82C588E2B}" srcOrd="0" destOrd="0" presId="urn:microsoft.com/office/officeart/2008/layout/LinedList"/>
    <dgm:cxn modelId="{7058D456-5BA9-4CB5-AAF7-FE471EECAEC3}" type="presParOf" srcId="{4E97082B-E55D-42E2-9BAA-7A8708901085}" destId="{D11D107D-EDA2-45D6-B74F-8016ED58F035}" srcOrd="1" destOrd="0" presId="urn:microsoft.com/office/officeart/2008/layout/LinedList"/>
    <dgm:cxn modelId="{92AC91E0-99D3-4F40-8764-94DC3FA18864}" type="presParOf" srcId="{BE0A9EBA-4E64-4A49-9338-78DA6E247DFD}" destId="{9FCAA9C4-93B4-4A0F-B2E9-6EE3C95D5C80}" srcOrd="6" destOrd="0" presId="urn:microsoft.com/office/officeart/2008/layout/LinedList"/>
    <dgm:cxn modelId="{E20F5276-400E-4643-B91F-CEF1F028665E}" type="presParOf" srcId="{BE0A9EBA-4E64-4A49-9338-78DA6E247DFD}" destId="{821E0080-E018-436C-838F-909E6BFEC755}" srcOrd="7" destOrd="0" presId="urn:microsoft.com/office/officeart/2008/layout/LinedList"/>
    <dgm:cxn modelId="{B725C409-3216-4AD6-A5E5-11BB21724721}" type="presParOf" srcId="{821E0080-E018-436C-838F-909E6BFEC755}" destId="{2F6FBF09-6DC2-4D41-8C34-F0EF9EFB3445}" srcOrd="0" destOrd="0" presId="urn:microsoft.com/office/officeart/2008/layout/LinedList"/>
    <dgm:cxn modelId="{025B1737-9CFC-4216-9B2A-4112B5F41B13}" type="presParOf" srcId="{821E0080-E018-436C-838F-909E6BFEC755}" destId="{5C828BD7-449E-4951-A1BE-831E008161F9}" srcOrd="1" destOrd="0" presId="urn:microsoft.com/office/officeart/2008/layout/LinedList"/>
    <dgm:cxn modelId="{95556BD1-54A6-4D51-9D1A-EEB7A3D5C83B}" type="presParOf" srcId="{BE0A9EBA-4E64-4A49-9338-78DA6E247DFD}" destId="{93367D12-ABB0-46C4-B729-0F1320408C9A}" srcOrd="8" destOrd="0" presId="urn:microsoft.com/office/officeart/2008/layout/LinedList"/>
    <dgm:cxn modelId="{F6048DC7-5BF8-4E25-82E9-6A6A9EC630B1}" type="presParOf" srcId="{BE0A9EBA-4E64-4A49-9338-78DA6E247DFD}" destId="{74047FD9-C481-4D40-9D39-2D8F8666A984}" srcOrd="9" destOrd="0" presId="urn:microsoft.com/office/officeart/2008/layout/LinedList"/>
    <dgm:cxn modelId="{1E5DFDB8-BC03-4CB1-B308-F7CCB92BD51D}" type="presParOf" srcId="{74047FD9-C481-4D40-9D39-2D8F8666A984}" destId="{3B1A46A6-E667-41C0-8DC0-8677AD175EB8}" srcOrd="0" destOrd="0" presId="urn:microsoft.com/office/officeart/2008/layout/LinedList"/>
    <dgm:cxn modelId="{1279C650-4D55-4FA6-8EB0-4996D58C0ADD}" type="presParOf" srcId="{74047FD9-C481-4D40-9D39-2D8F8666A984}" destId="{DD997954-0335-4270-9CC4-15F243D830B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3AD4AA-CD8D-49B1-A189-FB9ACC42D68F}">
      <dsp:nvSpPr>
        <dsp:cNvPr id="0" name=""/>
        <dsp:cNvSpPr/>
      </dsp:nvSpPr>
      <dsp:spPr>
        <a:xfrm>
          <a:off x="0" y="675"/>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ABA52F-693B-430C-A3B7-BEC49B542B59}">
      <dsp:nvSpPr>
        <dsp:cNvPr id="0" name=""/>
        <dsp:cNvSpPr/>
      </dsp:nvSpPr>
      <dsp:spPr>
        <a:xfrm>
          <a:off x="0" y="675"/>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a:t>1. Concept and Classification of Research Design</a:t>
          </a:r>
          <a:endParaRPr lang="en-US" sz="3100" kern="1200"/>
        </a:p>
      </dsp:txBody>
      <dsp:txXfrm>
        <a:off x="0" y="675"/>
        <a:ext cx="6900512" cy="1106957"/>
      </dsp:txXfrm>
    </dsp:sp>
    <dsp:sp modelId="{B2AB4D40-B40C-47CE-B147-51141693AF9A}">
      <dsp:nvSpPr>
        <dsp:cNvPr id="0" name=""/>
        <dsp:cNvSpPr/>
      </dsp:nvSpPr>
      <dsp:spPr>
        <a:xfrm>
          <a:off x="0" y="1107633"/>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375E97-472E-4680-81F4-ACA81CCC0C48}">
      <dsp:nvSpPr>
        <dsp:cNvPr id="0" name=""/>
        <dsp:cNvSpPr/>
      </dsp:nvSpPr>
      <dsp:spPr>
        <a:xfrm>
          <a:off x="0" y="1107633"/>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a:t>2. Qualitative and Quantitative Research</a:t>
          </a:r>
          <a:endParaRPr lang="en-US" sz="3100" kern="1200"/>
        </a:p>
      </dsp:txBody>
      <dsp:txXfrm>
        <a:off x="0" y="1107633"/>
        <a:ext cx="6900512" cy="1106957"/>
      </dsp:txXfrm>
    </dsp:sp>
    <dsp:sp modelId="{B3AE5738-8948-4B58-ADCA-1A04D9A4840E}">
      <dsp:nvSpPr>
        <dsp:cNvPr id="0" name=""/>
        <dsp:cNvSpPr/>
      </dsp:nvSpPr>
      <dsp:spPr>
        <a:xfrm>
          <a:off x="0" y="2214591"/>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36D18A-01BF-4D8E-8389-FDE82C588E2B}">
      <dsp:nvSpPr>
        <dsp:cNvPr id="0" name=""/>
        <dsp:cNvSpPr/>
      </dsp:nvSpPr>
      <dsp:spPr>
        <a:xfrm>
          <a:off x="0" y="2214591"/>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a:t>3. Descriptive Research</a:t>
          </a:r>
          <a:endParaRPr lang="en-US" sz="3100" kern="1200"/>
        </a:p>
      </dsp:txBody>
      <dsp:txXfrm>
        <a:off x="0" y="2214591"/>
        <a:ext cx="6900512" cy="1106957"/>
      </dsp:txXfrm>
    </dsp:sp>
    <dsp:sp modelId="{9FCAA9C4-93B4-4A0F-B2E9-6EE3C95D5C80}">
      <dsp:nvSpPr>
        <dsp:cNvPr id="0" name=""/>
        <dsp:cNvSpPr/>
      </dsp:nvSpPr>
      <dsp:spPr>
        <a:xfrm>
          <a:off x="0" y="3321549"/>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6FBF09-6DC2-4D41-8C34-F0EF9EFB3445}">
      <dsp:nvSpPr>
        <dsp:cNvPr id="0" name=""/>
        <dsp:cNvSpPr/>
      </dsp:nvSpPr>
      <dsp:spPr>
        <a:xfrm>
          <a:off x="0" y="3321549"/>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a:t>4. Observation Research</a:t>
          </a:r>
          <a:endParaRPr lang="en-US" sz="3100" kern="1200"/>
        </a:p>
      </dsp:txBody>
      <dsp:txXfrm>
        <a:off x="0" y="3321549"/>
        <a:ext cx="6900512" cy="1106957"/>
      </dsp:txXfrm>
    </dsp:sp>
    <dsp:sp modelId="{93367D12-ABB0-46C4-B729-0F1320408C9A}">
      <dsp:nvSpPr>
        <dsp:cNvPr id="0" name=""/>
        <dsp:cNvSpPr/>
      </dsp:nvSpPr>
      <dsp:spPr>
        <a:xfrm>
          <a:off x="0" y="4428507"/>
          <a:ext cx="6900512"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1A46A6-E667-41C0-8DC0-8677AD175EB8}">
      <dsp:nvSpPr>
        <dsp:cNvPr id="0" name=""/>
        <dsp:cNvSpPr/>
      </dsp:nvSpPr>
      <dsp:spPr>
        <a:xfrm>
          <a:off x="0" y="4428507"/>
          <a:ext cx="6900512" cy="1106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1" kern="1200"/>
            <a:t>5. Experimental Design</a:t>
          </a:r>
          <a:endParaRPr lang="en-US" sz="3100" kern="1200"/>
        </a:p>
      </dsp:txBody>
      <dsp:txXfrm>
        <a:off x="0" y="4428507"/>
        <a:ext cx="6900512" cy="110695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2944" units="cm"/>
          <inkml:channel name="Y" type="integer" max="1080" units="cm"/>
          <inkml:channel name="T" type="integer" max="2.14748E9" units="dev"/>
        </inkml:traceFormat>
        <inkml:channelProperties>
          <inkml:channelProperty channel="X" name="resolution" value="85.5814" units="1/cm"/>
          <inkml:channelProperty channel="Y" name="resolution" value="55.95855" units="1/cm"/>
          <inkml:channelProperty channel="T" name="resolution" value="1" units="1/dev"/>
        </inkml:channelProperties>
      </inkml:inkSource>
      <inkml:timestamp xml:id="ts0" timeString="2026-09-16T04:50:37.795"/>
    </inkml:context>
    <inkml:brush xml:id="br0">
      <inkml:brushProperty name="width" value="0.05292" units="cm"/>
      <inkml:brushProperty name="height" value="0.05292" units="cm"/>
      <inkml:brushProperty name="color" value="#FF0000"/>
    </inkml:brush>
  </inkml:definitions>
  <inkml:trace contextRef="#ctx0" brushRef="#br0">29392 15737 0</inkml:trace>
  <inkml:trace contextRef="#ctx0" brushRef="#br0" timeOffset="-16363.82">26436 12148 0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F4A7C-A79A-0D34-1CB4-0339F9FF7B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78ADAB-D915-0267-32A6-D28C405971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3515A3-C3FC-8A08-F02C-7366599204B8}"/>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5" name="Footer Placeholder 4">
            <a:extLst>
              <a:ext uri="{FF2B5EF4-FFF2-40B4-BE49-F238E27FC236}">
                <a16:creationId xmlns:a16="http://schemas.microsoft.com/office/drawing/2014/main" id="{0110D378-AA6C-3DFA-E2AF-53283B693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84DB92-1B29-ABDD-6545-9C8DC8B3E324}"/>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4100133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F073E-6D29-D5DD-A840-097FEDDCF9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FB750F-7512-9672-B742-0EC0D00512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0744B9-19A8-819D-FF07-2461FA8C4C61}"/>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5" name="Footer Placeholder 4">
            <a:extLst>
              <a:ext uri="{FF2B5EF4-FFF2-40B4-BE49-F238E27FC236}">
                <a16:creationId xmlns:a16="http://schemas.microsoft.com/office/drawing/2014/main" id="{865AB853-320E-CF74-8B24-1B7DDB88EF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967C93-17ED-B097-FB6F-6D42284F1924}"/>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2710396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906E2-1397-68C6-4082-F4D2908CF8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09B38B-7E6C-1094-5DAF-C2894EF143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71ABF1-11DE-DB37-B21D-8EEDE2685660}"/>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5" name="Footer Placeholder 4">
            <a:extLst>
              <a:ext uri="{FF2B5EF4-FFF2-40B4-BE49-F238E27FC236}">
                <a16:creationId xmlns:a16="http://schemas.microsoft.com/office/drawing/2014/main" id="{3EEBBAB0-4DE1-C72E-6E37-0F59985C63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F8446F-28E9-1CAA-2004-51126AAC0641}"/>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3430261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86940-4413-9F53-6EC4-585F450805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D8E3E7-E899-E84C-540E-5D23CBA1B3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4EDFF6-4325-4FFF-B42C-B54A21FD0D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B92E95-05BA-511D-4425-A36C083A3D54}"/>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6" name="Footer Placeholder 5">
            <a:extLst>
              <a:ext uri="{FF2B5EF4-FFF2-40B4-BE49-F238E27FC236}">
                <a16:creationId xmlns:a16="http://schemas.microsoft.com/office/drawing/2014/main" id="{68B36B49-0F10-1952-B8C9-EA3323663D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1EA3F8-79CC-196B-79A2-91F207A025CF}"/>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783637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36A61-25E2-841D-47FA-BF7B9406B3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24254F-F1BE-5CB9-956F-68BEA59C1E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C9C12B-83E2-66E1-38F0-8CE1904BB0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6406B6-F133-8B20-F33A-80A52CB5CD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3AEB7C-D13C-D6ED-01D0-3B01F7215B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6C0F91-0AB0-9720-14B4-399416EAA74B}"/>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8" name="Footer Placeholder 7">
            <a:extLst>
              <a:ext uri="{FF2B5EF4-FFF2-40B4-BE49-F238E27FC236}">
                <a16:creationId xmlns:a16="http://schemas.microsoft.com/office/drawing/2014/main" id="{23F3CCA0-A1FE-2602-259A-5748B19FBC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95374E-29E6-D62B-859C-602D237E10AD}"/>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3044733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08266-7BE1-4D8C-C37D-208589C1E7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1BC859-1540-262D-75F8-321A8A998C4B}"/>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4" name="Footer Placeholder 3">
            <a:extLst>
              <a:ext uri="{FF2B5EF4-FFF2-40B4-BE49-F238E27FC236}">
                <a16:creationId xmlns:a16="http://schemas.microsoft.com/office/drawing/2014/main" id="{D7386601-B7BE-56BD-23B7-71A2988DCD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A70BC9-60BD-05F0-164D-51BE8F3BA6BA}"/>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3176176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37EA63-8E6B-0B76-681C-9B7F4DE002F5}"/>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3" name="Footer Placeholder 2">
            <a:extLst>
              <a:ext uri="{FF2B5EF4-FFF2-40B4-BE49-F238E27FC236}">
                <a16:creationId xmlns:a16="http://schemas.microsoft.com/office/drawing/2014/main" id="{B6E50A14-C8D9-F8D5-7FA6-BF6D301127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4539872-DAF1-57B4-49EC-0316645479E2}"/>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659769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7E22E-D809-A12D-0BF5-FCD9D8B3FC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1B9FCE-C70B-4043-7C5C-C1AEE453F1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A752C3-29A9-75FD-0AA2-2DE63C99A2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C76AB9-20B7-B2C9-E0A7-E7F723A9992F}"/>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6" name="Footer Placeholder 5">
            <a:extLst>
              <a:ext uri="{FF2B5EF4-FFF2-40B4-BE49-F238E27FC236}">
                <a16:creationId xmlns:a16="http://schemas.microsoft.com/office/drawing/2014/main" id="{B3029C76-16CB-EE98-8BAF-8437134914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3B145C-E925-AC19-EEF2-6BB54BDDE1B0}"/>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1912820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C6C3F-5367-AFBE-9E23-7A2A5DF23C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C6DFE5-7149-4D51-7BA9-F8E79BEC14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73888A-1420-F739-D1F7-39BAB1E253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A4ECD1-E61B-2D28-6EDF-E0717DDA0125}"/>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6" name="Footer Placeholder 5">
            <a:extLst>
              <a:ext uri="{FF2B5EF4-FFF2-40B4-BE49-F238E27FC236}">
                <a16:creationId xmlns:a16="http://schemas.microsoft.com/office/drawing/2014/main" id="{06BE4A0E-C7A3-D692-B49A-2107408675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D1EFA3-81AC-8D7B-252A-1C7C5626A777}"/>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1665372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BD4E6-08AD-A44F-0CBB-19DEDE5278B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3A19AE-6510-4EFA-9894-C0BDA3D7C7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D023A-CE88-BC99-4051-F2B17780C87F}"/>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5" name="Footer Placeholder 4">
            <a:extLst>
              <a:ext uri="{FF2B5EF4-FFF2-40B4-BE49-F238E27FC236}">
                <a16:creationId xmlns:a16="http://schemas.microsoft.com/office/drawing/2014/main" id="{80B1C259-7A2B-F807-FF97-4F7CE0DC8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4D4490-9438-D608-F9CC-1EDB958FDAF8}"/>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2593146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35FC89-852D-4841-6CF0-D780249BAA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CC9834-4BA3-6F75-584B-D343385100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C9980E-BB73-F1BE-5C83-84C30ECA99EE}"/>
              </a:ext>
            </a:extLst>
          </p:cNvPr>
          <p:cNvSpPr>
            <a:spLocks noGrp="1"/>
          </p:cNvSpPr>
          <p:nvPr>
            <p:ph type="dt" sz="half" idx="10"/>
          </p:nvPr>
        </p:nvSpPr>
        <p:spPr/>
        <p:txBody>
          <a:bodyPr/>
          <a:lstStyle/>
          <a:p>
            <a:fld id="{B876A797-ADF0-44E0-AFA6-119070407269}" type="datetimeFigureOut">
              <a:rPr lang="en-US" smtClean="0"/>
              <a:t>9/16/2026</a:t>
            </a:fld>
            <a:endParaRPr lang="en-US"/>
          </a:p>
        </p:txBody>
      </p:sp>
      <p:sp>
        <p:nvSpPr>
          <p:cNvPr id="5" name="Footer Placeholder 4">
            <a:extLst>
              <a:ext uri="{FF2B5EF4-FFF2-40B4-BE49-F238E27FC236}">
                <a16:creationId xmlns:a16="http://schemas.microsoft.com/office/drawing/2014/main" id="{9B55F805-87A0-14B5-D4DE-7FE070A62E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99EB03-E886-7BF9-F310-B272DCE7A472}"/>
              </a:ext>
            </a:extLst>
          </p:cNvPr>
          <p:cNvSpPr>
            <a:spLocks noGrp="1"/>
          </p:cNvSpPr>
          <p:nvPr>
            <p:ph type="sldNum" sz="quarter" idx="12"/>
          </p:nvPr>
        </p:nvSpPr>
        <p:spPr/>
        <p:txBody>
          <a:bodyPr/>
          <a:lstStyle/>
          <a:p>
            <a:fld id="{6E96297E-017B-4B68-872A-47D220F8852F}" type="slidenum">
              <a:rPr lang="en-US" smtClean="0"/>
              <a:t>‹#›</a:t>
            </a:fld>
            <a:endParaRPr lang="en-US"/>
          </a:p>
        </p:txBody>
      </p:sp>
    </p:spTree>
    <p:extLst>
      <p:ext uri="{BB962C8B-B14F-4D97-AF65-F5344CB8AC3E}">
        <p14:creationId xmlns:p14="http://schemas.microsoft.com/office/powerpoint/2010/main" val="3759663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2A461-0837-0566-B16C-DEF0FF7FEC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31C57FD-E9DB-384A-522B-A1B1E75C53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BB903B-8306-F74D-981E-D1C014F24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76A797-ADF0-44E0-AFA6-119070407269}" type="datetimeFigureOut">
              <a:rPr lang="en-US" smtClean="0"/>
              <a:t>9/16/2026</a:t>
            </a:fld>
            <a:endParaRPr lang="en-US"/>
          </a:p>
        </p:txBody>
      </p:sp>
      <p:sp>
        <p:nvSpPr>
          <p:cNvPr id="5" name="Footer Placeholder 4">
            <a:extLst>
              <a:ext uri="{FF2B5EF4-FFF2-40B4-BE49-F238E27FC236}">
                <a16:creationId xmlns:a16="http://schemas.microsoft.com/office/drawing/2014/main" id="{569913C5-61F5-32ED-8030-AA1B5DF44B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36CA308-62FA-650C-2B33-EB8A288A1F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96297E-017B-4B68-872A-47D220F8852F}" type="slidenum">
              <a:rPr lang="en-US" smtClean="0"/>
              <a:t>‹#›</a:t>
            </a:fld>
            <a:endParaRPr lang="en-US"/>
          </a:p>
        </p:txBody>
      </p:sp>
    </p:spTree>
    <p:extLst>
      <p:ext uri="{BB962C8B-B14F-4D97-AF65-F5344CB8AC3E}">
        <p14:creationId xmlns:p14="http://schemas.microsoft.com/office/powerpoint/2010/main" val="25222967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lose-up of hopscotch on a sidewalk">
            <a:extLst>
              <a:ext uri="{FF2B5EF4-FFF2-40B4-BE49-F238E27FC236}">
                <a16:creationId xmlns:a16="http://schemas.microsoft.com/office/drawing/2014/main" id="{7CD16FC3-E820-294F-76A9-8F9A79661885}"/>
              </a:ext>
            </a:extLst>
          </p:cNvPr>
          <p:cNvPicPr>
            <a:picLocks noChangeAspect="1"/>
          </p:cNvPicPr>
          <p:nvPr/>
        </p:nvPicPr>
        <p:blipFill>
          <a:blip r:embed="rId2">
            <a:alphaModFix amt="40000"/>
          </a:blip>
          <a:srcRect t="7097" b="863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FFFD5CB-EFED-AD96-BB84-2873FCF0AFF6}"/>
              </a:ext>
            </a:extLst>
          </p:cNvPr>
          <p:cNvSpPr>
            <a:spLocks noGrp="1"/>
          </p:cNvSpPr>
          <p:nvPr>
            <p:ph type="ctrTitle"/>
          </p:nvPr>
        </p:nvSpPr>
        <p:spPr>
          <a:xfrm>
            <a:off x="965200" y="965200"/>
            <a:ext cx="10261600" cy="3564869"/>
          </a:xfrm>
        </p:spPr>
        <p:txBody>
          <a:bodyPr>
            <a:normAutofit/>
          </a:bodyPr>
          <a:lstStyle/>
          <a:p>
            <a:pPr algn="l"/>
            <a:r>
              <a:rPr lang="en-US" sz="11500">
                <a:ln w="22225">
                  <a:solidFill>
                    <a:schemeClr val="tx1"/>
                  </a:solidFill>
                  <a:miter lim="800000"/>
                </a:ln>
                <a:noFill/>
              </a:rPr>
              <a:t>Chapter 3 </a:t>
            </a:r>
          </a:p>
        </p:txBody>
      </p:sp>
      <p:sp>
        <p:nvSpPr>
          <p:cNvPr id="3" name="Subtitle 2">
            <a:extLst>
              <a:ext uri="{FF2B5EF4-FFF2-40B4-BE49-F238E27FC236}">
                <a16:creationId xmlns:a16="http://schemas.microsoft.com/office/drawing/2014/main" id="{9B6ADBAD-92C7-7168-D836-63145F32D8FF}"/>
              </a:ext>
            </a:extLst>
          </p:cNvPr>
          <p:cNvSpPr>
            <a:spLocks noGrp="1"/>
          </p:cNvSpPr>
          <p:nvPr>
            <p:ph type="subTitle" idx="1"/>
          </p:nvPr>
        </p:nvSpPr>
        <p:spPr>
          <a:xfrm>
            <a:off x="965200" y="4572002"/>
            <a:ext cx="10261600" cy="1202995"/>
          </a:xfrm>
        </p:spPr>
        <p:txBody>
          <a:bodyPr>
            <a:normAutofit/>
          </a:bodyPr>
          <a:lstStyle/>
          <a:p>
            <a:pPr algn="l"/>
            <a:r>
              <a:rPr lang="en-US" sz="3200"/>
              <a:t>Research Design</a:t>
            </a:r>
          </a:p>
        </p:txBody>
      </p:sp>
    </p:spTree>
    <p:extLst>
      <p:ext uri="{BB962C8B-B14F-4D97-AF65-F5344CB8AC3E}">
        <p14:creationId xmlns:p14="http://schemas.microsoft.com/office/powerpoint/2010/main" val="348617305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35A7C-FCDD-534C-1D00-B1C239644A7E}"/>
              </a:ext>
            </a:extLst>
          </p:cNvPr>
          <p:cNvSpPr>
            <a:spLocks noGrp="1"/>
          </p:cNvSpPr>
          <p:nvPr>
            <p:ph type="title"/>
          </p:nvPr>
        </p:nvSpPr>
        <p:spPr>
          <a:xfrm>
            <a:off x="635000" y="640823"/>
            <a:ext cx="3418659" cy="5583148"/>
          </a:xfrm>
        </p:spPr>
        <p:txBody>
          <a:bodyPr anchor="ctr">
            <a:normAutofit/>
          </a:bodyPr>
          <a:lstStyle/>
          <a:p>
            <a:r>
              <a:rPr lang="en-US" sz="5400" dirty="0"/>
              <a:t>Chapter outline</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EB87C3C-367B-06B3-B318-AA1E3B9B2B88}"/>
              </a:ext>
            </a:extLst>
          </p:cNvPr>
          <p:cNvGraphicFramePr>
            <a:graphicFrameLocks noGrp="1"/>
          </p:cNvGraphicFramePr>
          <p:nvPr>
            <p:ph idx="1"/>
            <p:extLst>
              <p:ext uri="{D42A27DB-BD31-4B8C-83A1-F6EECF244321}">
                <p14:modId xmlns:p14="http://schemas.microsoft.com/office/powerpoint/2010/main" val="164152568"/>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2850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D5BBC4-D463-DFAC-C4D1-131E783FB3B2}"/>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Meaning of Research Design</a:t>
            </a:r>
          </a:p>
        </p:txBody>
      </p:sp>
      <p:sp>
        <p:nvSpPr>
          <p:cNvPr id="3" name="Content Placeholder 2">
            <a:extLst>
              <a:ext uri="{FF2B5EF4-FFF2-40B4-BE49-F238E27FC236}">
                <a16:creationId xmlns:a16="http://schemas.microsoft.com/office/drawing/2014/main" id="{934584C9-F191-CCF4-6FB4-764E19C43F3F}"/>
              </a:ext>
            </a:extLst>
          </p:cNvPr>
          <p:cNvSpPr>
            <a:spLocks noGrp="1"/>
          </p:cNvSpPr>
          <p:nvPr>
            <p:ph idx="1"/>
          </p:nvPr>
        </p:nvSpPr>
        <p:spPr>
          <a:xfrm>
            <a:off x="4810259" y="649480"/>
            <a:ext cx="6555347" cy="5546047"/>
          </a:xfrm>
        </p:spPr>
        <p:txBody>
          <a:bodyPr anchor="ctr">
            <a:normAutofit/>
          </a:bodyPr>
          <a:lstStyle/>
          <a:p>
            <a:pPr>
              <a:buNone/>
            </a:pPr>
            <a:r>
              <a:rPr lang="en-US" sz="2000"/>
              <a:t>Research design is a systematic plan prepared by a researcher before starting a research study. It explains how the research will be conducted, how data will be collected, and how the collected information will be analysed.</a:t>
            </a:r>
          </a:p>
          <a:p>
            <a:pPr>
              <a:buNone/>
            </a:pPr>
            <a:r>
              <a:rPr lang="en-US" sz="2000"/>
              <a:t>A research design works like a </a:t>
            </a:r>
            <a:r>
              <a:rPr lang="en-US" sz="2000" b="1"/>
              <a:t>blueprint or roadmap</a:t>
            </a:r>
            <a:r>
              <a:rPr lang="en-US" sz="2000"/>
              <a:t> of research. Just as an architect prepares a plan before constructing a building, a researcher prepares a design before collecting data.</a:t>
            </a:r>
          </a:p>
          <a:p>
            <a:endParaRPr lang="en-US" sz="2000"/>
          </a:p>
        </p:txBody>
      </p:sp>
    </p:spTree>
    <p:extLst>
      <p:ext uri="{BB962C8B-B14F-4D97-AF65-F5344CB8AC3E}">
        <p14:creationId xmlns:p14="http://schemas.microsoft.com/office/powerpoint/2010/main" val="1322653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DEB0A4-D781-DD0D-FD62-BEAD8076BFF4}"/>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Importance of Research Design</a:t>
            </a:r>
          </a:p>
        </p:txBody>
      </p:sp>
      <p:sp>
        <p:nvSpPr>
          <p:cNvPr id="3" name="Content Placeholder 2">
            <a:extLst>
              <a:ext uri="{FF2B5EF4-FFF2-40B4-BE49-F238E27FC236}">
                <a16:creationId xmlns:a16="http://schemas.microsoft.com/office/drawing/2014/main" id="{558559C5-16D4-A52D-7163-EAD0C76697F8}"/>
              </a:ext>
            </a:extLst>
          </p:cNvPr>
          <p:cNvSpPr>
            <a:spLocks noGrp="1"/>
          </p:cNvSpPr>
          <p:nvPr>
            <p:ph idx="1"/>
          </p:nvPr>
        </p:nvSpPr>
        <p:spPr>
          <a:xfrm>
            <a:off x="1371599" y="2318197"/>
            <a:ext cx="9724031" cy="3683358"/>
          </a:xfrm>
        </p:spPr>
        <p:txBody>
          <a:bodyPr anchor="ctr">
            <a:normAutofit/>
          </a:bodyPr>
          <a:lstStyle/>
          <a:p>
            <a:pPr>
              <a:buNone/>
            </a:pPr>
            <a:r>
              <a:rPr lang="en-US" sz="2000" b="1"/>
              <a:t>1. Provides Proper Direction</a:t>
            </a:r>
          </a:p>
          <a:p>
            <a:pPr>
              <a:buNone/>
            </a:pPr>
            <a:r>
              <a:rPr lang="en-US" sz="2000"/>
              <a:t>Research design guides researchers about what steps should be followed during the research.</a:t>
            </a:r>
          </a:p>
          <a:p>
            <a:pPr>
              <a:buNone/>
            </a:pPr>
            <a:r>
              <a:rPr lang="en-US" sz="2000" b="1"/>
              <a:t>2. Saves Time and Cost</a:t>
            </a:r>
          </a:p>
          <a:p>
            <a:pPr>
              <a:buNone/>
            </a:pPr>
            <a:r>
              <a:rPr lang="en-US" sz="2000"/>
              <a:t>A planned research process reduces unnecessary activities and resource use.</a:t>
            </a:r>
          </a:p>
          <a:p>
            <a:pPr>
              <a:buNone/>
            </a:pPr>
            <a:r>
              <a:rPr lang="en-US" sz="2000" b="1"/>
              <a:t>3. Improves Accuracy</a:t>
            </a:r>
          </a:p>
          <a:p>
            <a:pPr>
              <a:buNone/>
            </a:pPr>
            <a:r>
              <a:rPr lang="en-US" sz="2000"/>
              <a:t>A good design reduces mistakes and helps collect reliable data</a:t>
            </a:r>
          </a:p>
          <a:p>
            <a:pPr>
              <a:buNone/>
            </a:pPr>
            <a:r>
              <a:rPr lang="en-US" sz="2000" b="1"/>
              <a:t>4. Helps Achieve Research Objectives</a:t>
            </a:r>
          </a:p>
          <a:p>
            <a:pPr>
              <a:buNone/>
            </a:pPr>
            <a:r>
              <a:rPr lang="en-US" sz="2000"/>
              <a:t>It ensures that the collected data can answer the research questions.</a:t>
            </a:r>
          </a:p>
          <a:p>
            <a:pPr>
              <a:buNone/>
            </a:pPr>
            <a:endParaRPr lang="en-US" sz="2000"/>
          </a:p>
          <a:p>
            <a:endParaRPr lang="en-US" sz="2000"/>
          </a:p>
        </p:txBody>
      </p:sp>
    </p:spTree>
    <p:extLst>
      <p:ext uri="{BB962C8B-B14F-4D97-AF65-F5344CB8AC3E}">
        <p14:creationId xmlns:p14="http://schemas.microsoft.com/office/powerpoint/2010/main" val="205119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8FB794-F5B4-4EE9-962A-DD61F21E52D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Exploratory Research Design</a:t>
            </a:r>
          </a:p>
        </p:txBody>
      </p:sp>
      <p:sp>
        <p:nvSpPr>
          <p:cNvPr id="3" name="Content Placeholder 2">
            <a:extLst>
              <a:ext uri="{FF2B5EF4-FFF2-40B4-BE49-F238E27FC236}">
                <a16:creationId xmlns:a16="http://schemas.microsoft.com/office/drawing/2014/main" id="{CE638F89-F412-ACC3-657A-088787F0F40A}"/>
              </a:ext>
            </a:extLst>
          </p:cNvPr>
          <p:cNvSpPr>
            <a:spLocks noGrp="1"/>
          </p:cNvSpPr>
          <p:nvPr>
            <p:ph idx="1"/>
          </p:nvPr>
        </p:nvSpPr>
        <p:spPr>
          <a:xfrm>
            <a:off x="1371599" y="2318197"/>
            <a:ext cx="9724031" cy="3683358"/>
          </a:xfrm>
        </p:spPr>
        <p:txBody>
          <a:bodyPr anchor="ctr">
            <a:normAutofit/>
          </a:bodyPr>
          <a:lstStyle/>
          <a:p>
            <a:pPr>
              <a:buNone/>
            </a:pPr>
            <a:r>
              <a:rPr lang="en-US" sz="2000"/>
              <a:t>Exploratory research is conducted when a problem is not clearly understood. It helps researchers explore ideas, identify possible causes, and develop research questions.</a:t>
            </a:r>
          </a:p>
          <a:p>
            <a:pPr>
              <a:buNone/>
            </a:pPr>
            <a:r>
              <a:rPr lang="en-US" sz="2000"/>
              <a:t>The main purpose is to gain new insights and better understanding about a research problem.</a:t>
            </a:r>
          </a:p>
          <a:p>
            <a:pPr>
              <a:buNone/>
            </a:pPr>
            <a:r>
              <a:rPr lang="en-US" sz="2000" b="1"/>
              <a:t>Features:</a:t>
            </a:r>
          </a:p>
          <a:p>
            <a:pPr marL="342900" lvl="0" indent="-342900"/>
            <a:r>
              <a:rPr lang="en-US" sz="2000"/>
              <a:t>Used for new or unclear problems. </a:t>
            </a:r>
          </a:p>
          <a:p>
            <a:pPr marL="342900" lvl="0" indent="-342900"/>
            <a:r>
              <a:rPr lang="en-US" sz="2000"/>
              <a:t>The research design is flexible. </a:t>
            </a:r>
          </a:p>
          <a:p>
            <a:pPr marL="342900" lvl="0" indent="-342900"/>
            <a:r>
              <a:rPr lang="en-US" sz="2000"/>
              <a:t>Information is collected from different sources.</a:t>
            </a:r>
          </a:p>
          <a:p>
            <a:pPr>
              <a:buNone/>
            </a:pPr>
            <a:endParaRPr lang="en-US" sz="2000"/>
          </a:p>
          <a:p>
            <a:endParaRPr lang="en-US" sz="2000"/>
          </a:p>
        </p:txBody>
      </p:sp>
    </p:spTree>
    <p:extLst>
      <p:ext uri="{BB962C8B-B14F-4D97-AF65-F5344CB8AC3E}">
        <p14:creationId xmlns:p14="http://schemas.microsoft.com/office/powerpoint/2010/main" val="1380346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43D6C6-C0E3-9606-7BA9-6C20C2611F90}"/>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Descriptive Research Design</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3902F9C-5B54-A1F2-7F33-602D9C4DB2D5}"/>
              </a:ext>
            </a:extLst>
          </p:cNvPr>
          <p:cNvSpPr>
            <a:spLocks noGrp="1"/>
          </p:cNvSpPr>
          <p:nvPr>
            <p:ph idx="1"/>
          </p:nvPr>
        </p:nvSpPr>
        <p:spPr>
          <a:xfrm>
            <a:off x="1155548" y="2217343"/>
            <a:ext cx="9880893" cy="3959619"/>
          </a:xfrm>
        </p:spPr>
        <p:txBody>
          <a:bodyPr>
            <a:normAutofit/>
          </a:bodyPr>
          <a:lstStyle/>
          <a:p>
            <a:pPr>
              <a:buNone/>
            </a:pPr>
            <a:r>
              <a:rPr lang="en-US" sz="2400"/>
              <a:t>Descriptive research describes the existing condition, characteristics, behaviour, or situation of a group or population.</a:t>
            </a:r>
          </a:p>
          <a:p>
            <a:pPr marL="228600" marR="0" lvl="0" indent="-228600" defTabSz="914400" rtl="0" eaLnBrk="1" fontAlgn="auto" latinLnBrk="0" hangingPunct="1">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a:ln>
                  <a:noFill/>
                </a:ln>
                <a:effectLst/>
                <a:uLnTx/>
                <a:uFillTx/>
                <a:latin typeface="Aptos" panose="02110004020202020204"/>
                <a:ea typeface="+mn-ea"/>
                <a:cs typeface="+mn-cs"/>
              </a:rPr>
              <a:t>The major methods of descriptive research are:</a:t>
            </a:r>
          </a:p>
          <a:p>
            <a:pPr marL="342900" marR="0" lvl="0" indent="-342900" defTabSz="914400" rtl="0" eaLnBrk="1" fontAlgn="auto" latinLnBrk="0" hangingPunct="1">
              <a:spcBef>
                <a:spcPts val="1000"/>
              </a:spcBef>
              <a:spcAft>
                <a:spcPts val="0"/>
              </a:spcAft>
              <a:buClrTx/>
              <a:buSzTx/>
              <a:buFont typeface="+mj-lt"/>
              <a:buAutoNum type="arabicPeriod"/>
              <a:tabLst/>
              <a:defRPr/>
            </a:pPr>
            <a:r>
              <a:rPr kumimoji="0" lang="en-US" sz="2400" b="0" i="0" u="none" strike="noStrike" kern="1200" cap="none" spc="0" normalizeH="0" baseline="0" noProof="0">
                <a:ln>
                  <a:noFill/>
                </a:ln>
                <a:effectLst/>
                <a:uLnTx/>
                <a:uFillTx/>
                <a:latin typeface="Aptos" panose="02110004020202020204"/>
                <a:ea typeface="+mn-ea"/>
                <a:cs typeface="+mn-cs"/>
              </a:rPr>
              <a:t>Survey Method </a:t>
            </a:r>
          </a:p>
          <a:p>
            <a:pPr marL="342900" marR="0" lvl="0" indent="-342900" defTabSz="914400" rtl="0" eaLnBrk="1" fontAlgn="auto" latinLnBrk="0" hangingPunct="1">
              <a:spcBef>
                <a:spcPts val="1000"/>
              </a:spcBef>
              <a:spcAft>
                <a:spcPts val="0"/>
              </a:spcAft>
              <a:buClrTx/>
              <a:buSzTx/>
              <a:buFont typeface="+mj-lt"/>
              <a:buAutoNum type="arabicPeriod"/>
              <a:tabLst/>
              <a:defRPr/>
            </a:pPr>
            <a:r>
              <a:rPr kumimoji="0" lang="en-US" sz="2400" b="0" i="0" u="none" strike="noStrike" kern="1200" cap="none" spc="0" normalizeH="0" baseline="0" noProof="0">
                <a:ln>
                  <a:noFill/>
                </a:ln>
                <a:effectLst/>
                <a:uLnTx/>
                <a:uFillTx/>
                <a:latin typeface="Aptos" panose="02110004020202020204"/>
                <a:ea typeface="+mn-ea"/>
                <a:cs typeface="+mn-cs"/>
              </a:rPr>
              <a:t>Observation Method </a:t>
            </a:r>
          </a:p>
          <a:p>
            <a:pPr marL="342900" marR="0" lvl="0" indent="-342900" defTabSz="914400" rtl="0" eaLnBrk="1" fontAlgn="auto" latinLnBrk="0" hangingPunct="1">
              <a:spcBef>
                <a:spcPts val="1000"/>
              </a:spcBef>
              <a:spcAft>
                <a:spcPts val="0"/>
              </a:spcAft>
              <a:buClrTx/>
              <a:buSzTx/>
              <a:buFont typeface="+mj-lt"/>
              <a:buAutoNum type="arabicPeriod"/>
              <a:tabLst/>
              <a:defRPr/>
            </a:pPr>
            <a:r>
              <a:rPr kumimoji="0" lang="en-US" sz="2400" b="0" i="0" u="none" strike="noStrike" kern="1200" cap="none" spc="0" normalizeH="0" baseline="0" noProof="0">
                <a:ln>
                  <a:noFill/>
                </a:ln>
                <a:effectLst/>
                <a:uLnTx/>
                <a:uFillTx/>
                <a:latin typeface="Aptos" panose="02110004020202020204"/>
                <a:ea typeface="+mn-ea"/>
                <a:cs typeface="+mn-cs"/>
              </a:rPr>
              <a:t>Case Study Method</a:t>
            </a:r>
          </a:p>
          <a:p>
            <a:pPr marL="0" indent="0">
              <a:buNone/>
            </a:pPr>
            <a:endParaRPr lang="en-US" sz="2400"/>
          </a:p>
        </p:txBody>
      </p:sp>
    </p:spTree>
    <p:extLst>
      <p:ext uri="{BB962C8B-B14F-4D97-AF65-F5344CB8AC3E}">
        <p14:creationId xmlns:p14="http://schemas.microsoft.com/office/powerpoint/2010/main" val="2348641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3A85A8-C717-B74A-4589-0163CF89C24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12C85FA2-A337-BDDB-E29F-3EB0C5CBBF26}"/>
              </a:ext>
            </a:extLst>
          </p:cNvPr>
          <p:cNvSpPr>
            <a:spLocks noGrp="1"/>
          </p:cNvSpPr>
          <p:nvPr>
            <p:ph type="title"/>
          </p:nvPr>
        </p:nvSpPr>
        <p:spPr>
          <a:xfrm>
            <a:off x="838200" y="401221"/>
            <a:ext cx="10515600" cy="1348065"/>
          </a:xfrm>
        </p:spPr>
        <p:txBody>
          <a:bodyPr>
            <a:normAutofit/>
          </a:bodyPr>
          <a:lstStyle/>
          <a:p>
            <a:r>
              <a:rPr lang="en-US" sz="5400">
                <a:solidFill>
                  <a:srgbClr val="FFFFFF"/>
                </a:solidFill>
              </a:rPr>
              <a:t>Survey Method</a:t>
            </a:r>
          </a:p>
        </p:txBody>
      </p:sp>
      <p:sp>
        <p:nvSpPr>
          <p:cNvPr id="3" name="Content Placeholder 2">
            <a:extLst>
              <a:ext uri="{FF2B5EF4-FFF2-40B4-BE49-F238E27FC236}">
                <a16:creationId xmlns:a16="http://schemas.microsoft.com/office/drawing/2014/main" id="{8EDC862E-B6FA-5E6D-BBCD-4393FBF90335}"/>
              </a:ext>
            </a:extLst>
          </p:cNvPr>
          <p:cNvSpPr>
            <a:spLocks noGrp="1"/>
          </p:cNvSpPr>
          <p:nvPr>
            <p:ph idx="1"/>
          </p:nvPr>
        </p:nvSpPr>
        <p:spPr>
          <a:xfrm>
            <a:off x="838200" y="2586789"/>
            <a:ext cx="10515600" cy="3590174"/>
          </a:xfrm>
        </p:spPr>
        <p:txBody>
          <a:bodyPr>
            <a:normAutofit/>
          </a:bodyPr>
          <a:lstStyle/>
          <a:p>
            <a:pPr>
              <a:buNone/>
            </a:pPr>
            <a:r>
              <a:rPr lang="en-US" sz="2200"/>
              <a:t>A survey is a research method where information is collected from people by asking questions through questionnaires or interviews.</a:t>
            </a:r>
          </a:p>
          <a:p>
            <a:pPr>
              <a:buNone/>
            </a:pPr>
            <a:r>
              <a:rPr lang="en-US" sz="2200"/>
              <a:t>It is one of the most commonly used methods in business, education, social science, and market research.</a:t>
            </a:r>
          </a:p>
          <a:p>
            <a:pPr marL="0" indent="0">
              <a:buNone/>
            </a:pPr>
            <a:r>
              <a:rPr lang="en-US" sz="2200"/>
              <a:t>Types</a:t>
            </a:r>
          </a:p>
          <a:p>
            <a:pPr marL="514350" indent="-514350">
              <a:buFont typeface="+mj-lt"/>
              <a:buAutoNum type="arabicPeriod"/>
            </a:pPr>
            <a:r>
              <a:rPr lang="en-US" sz="2200"/>
              <a:t>Questionnaire Survey</a:t>
            </a:r>
          </a:p>
          <a:p>
            <a:pPr marL="514350" indent="-514350">
              <a:buFont typeface="+mj-lt"/>
              <a:buAutoNum type="arabicPeriod"/>
            </a:pPr>
            <a:r>
              <a:rPr lang="en-US" sz="2200"/>
              <a:t>Interview Survey</a:t>
            </a:r>
          </a:p>
        </p:txBody>
      </p:sp>
    </p:spTree>
    <p:extLst>
      <p:ext uri="{BB962C8B-B14F-4D97-AF65-F5344CB8AC3E}">
        <p14:creationId xmlns:p14="http://schemas.microsoft.com/office/powerpoint/2010/main" val="788471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347CDF2-79B4-5083-8EE4-C0235BAEDB13}"/>
              </a:ext>
            </a:extLst>
          </p:cNvPr>
          <p:cNvSpPr>
            <a:spLocks noGrp="1"/>
          </p:cNvSpPr>
          <p:nvPr>
            <p:ph type="title"/>
          </p:nvPr>
        </p:nvSpPr>
        <p:spPr>
          <a:xfrm>
            <a:off x="838200" y="401221"/>
            <a:ext cx="10515600" cy="1348065"/>
          </a:xfrm>
        </p:spPr>
        <p:txBody>
          <a:bodyPr>
            <a:normAutofit/>
          </a:bodyPr>
          <a:lstStyle/>
          <a:p>
            <a:r>
              <a:rPr lang="en-US" sz="5400">
                <a:solidFill>
                  <a:srgbClr val="FFFFFF"/>
                </a:solidFill>
              </a:rPr>
              <a:t>Advantage of Survey Method</a:t>
            </a:r>
          </a:p>
        </p:txBody>
      </p:sp>
      <p:sp>
        <p:nvSpPr>
          <p:cNvPr id="3" name="Content Placeholder 2">
            <a:extLst>
              <a:ext uri="{FF2B5EF4-FFF2-40B4-BE49-F238E27FC236}">
                <a16:creationId xmlns:a16="http://schemas.microsoft.com/office/drawing/2014/main" id="{9C19FAEE-D478-3EBD-E65F-A3F5C0B35CB1}"/>
              </a:ext>
            </a:extLst>
          </p:cNvPr>
          <p:cNvSpPr>
            <a:spLocks noGrp="1"/>
          </p:cNvSpPr>
          <p:nvPr>
            <p:ph idx="1"/>
          </p:nvPr>
        </p:nvSpPr>
        <p:spPr>
          <a:xfrm>
            <a:off x="838200" y="2586789"/>
            <a:ext cx="10515600" cy="3590174"/>
          </a:xfrm>
        </p:spPr>
        <p:txBody>
          <a:bodyPr>
            <a:normAutofit/>
          </a:bodyPr>
          <a:lstStyle/>
          <a:p>
            <a:pPr>
              <a:buNone/>
            </a:pPr>
            <a:r>
              <a:rPr lang="en-US" sz="1700" b="1"/>
              <a:t>1. Collects Data from Many People: </a:t>
            </a:r>
            <a:r>
              <a:rPr lang="en-US" sz="1700"/>
              <a:t>Surveys can reach a large number of respondents within a short period.</a:t>
            </a:r>
          </a:p>
          <a:p>
            <a:pPr>
              <a:buNone/>
            </a:pPr>
            <a:r>
              <a:rPr lang="en-US" sz="1700" b="1"/>
              <a:t>Example: </a:t>
            </a:r>
            <a:r>
              <a:rPr lang="en-US" sz="1700"/>
              <a:t>A mobile company surveys thousands of customers before launching a new phone.</a:t>
            </a:r>
          </a:p>
          <a:p>
            <a:pPr>
              <a:buNone/>
            </a:pPr>
            <a:br>
              <a:rPr lang="en-US" sz="1700"/>
            </a:br>
            <a:endParaRPr lang="en-US" sz="1700"/>
          </a:p>
          <a:p>
            <a:pPr>
              <a:buNone/>
            </a:pPr>
            <a:r>
              <a:rPr lang="en-US" sz="1700" b="1"/>
              <a:t>2. Easy Comparison of Results: </a:t>
            </a:r>
            <a:r>
              <a:rPr lang="en-US" sz="1700"/>
              <a:t>Survey responses can be organized and compared using statistical methods.</a:t>
            </a:r>
          </a:p>
          <a:p>
            <a:pPr>
              <a:buNone/>
            </a:pPr>
            <a:r>
              <a:rPr lang="en-US" sz="1700" b="1"/>
              <a:t>Example: </a:t>
            </a:r>
            <a:r>
              <a:rPr lang="en-US" sz="1700"/>
              <a:t>A business compares customer satisfaction levels between different age groups.</a:t>
            </a:r>
          </a:p>
          <a:p>
            <a:pPr>
              <a:buNone/>
            </a:pPr>
            <a:br>
              <a:rPr lang="en-US" sz="1700"/>
            </a:br>
            <a:endParaRPr lang="en-US" sz="1700"/>
          </a:p>
          <a:p>
            <a:pPr>
              <a:buNone/>
            </a:pPr>
            <a:r>
              <a:rPr lang="en-US" sz="1700" b="1"/>
              <a:t>3. Cost and Time Effective: </a:t>
            </a:r>
            <a:r>
              <a:rPr lang="en-US" sz="1700"/>
              <a:t>Online surveys can collect information quickly with lower costs.</a:t>
            </a:r>
          </a:p>
          <a:p>
            <a:pPr>
              <a:buNone/>
            </a:pPr>
            <a:r>
              <a:rPr lang="en-US" sz="1700" b="1"/>
              <a:t>Example: </a:t>
            </a:r>
            <a:r>
              <a:rPr lang="en-US" sz="1700"/>
              <a:t>A company uses Google Forms to collect feedback from customers.</a:t>
            </a:r>
          </a:p>
          <a:p>
            <a:endParaRPr lang="en-US" sz="1700"/>
          </a:p>
        </p:txBody>
      </p:sp>
    </p:spTree>
    <p:extLst>
      <p:ext uri="{BB962C8B-B14F-4D97-AF65-F5344CB8AC3E}">
        <p14:creationId xmlns:p14="http://schemas.microsoft.com/office/powerpoint/2010/main" val="947558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D57CAD58-D4B5-26B0-EB2A-EB93C00328B2}"/>
              </a:ext>
            </a:extLst>
          </p:cNvPr>
          <p:cNvSpPr>
            <a:spLocks noGrp="1"/>
          </p:cNvSpPr>
          <p:nvPr>
            <p:ph type="title"/>
          </p:nvPr>
        </p:nvSpPr>
        <p:spPr>
          <a:xfrm>
            <a:off x="838200" y="401221"/>
            <a:ext cx="10515600" cy="1348065"/>
          </a:xfrm>
        </p:spPr>
        <p:txBody>
          <a:bodyPr>
            <a:normAutofit/>
          </a:bodyPr>
          <a:lstStyle/>
          <a:p>
            <a:r>
              <a:rPr lang="en-US" sz="5400">
                <a:solidFill>
                  <a:srgbClr val="FFFFFF"/>
                </a:solidFill>
              </a:rPr>
              <a:t>Limitations of Survey Method</a:t>
            </a:r>
          </a:p>
        </p:txBody>
      </p:sp>
      <p:sp>
        <p:nvSpPr>
          <p:cNvPr id="3" name="Content Placeholder 2">
            <a:extLst>
              <a:ext uri="{FF2B5EF4-FFF2-40B4-BE49-F238E27FC236}">
                <a16:creationId xmlns:a16="http://schemas.microsoft.com/office/drawing/2014/main" id="{17644320-E88D-B24D-42DA-0EF87D6D84BC}"/>
              </a:ext>
            </a:extLst>
          </p:cNvPr>
          <p:cNvSpPr>
            <a:spLocks noGrp="1"/>
          </p:cNvSpPr>
          <p:nvPr>
            <p:ph idx="1"/>
          </p:nvPr>
        </p:nvSpPr>
        <p:spPr>
          <a:xfrm>
            <a:off x="838200" y="2586789"/>
            <a:ext cx="10515600" cy="3590174"/>
          </a:xfrm>
        </p:spPr>
        <p:txBody>
          <a:bodyPr>
            <a:normAutofit/>
          </a:bodyPr>
          <a:lstStyle/>
          <a:p>
            <a:pPr>
              <a:buNone/>
            </a:pPr>
            <a:r>
              <a:rPr lang="en-US" sz="2000" b="1"/>
              <a:t>1. Depends on Honest Responses</a:t>
            </a:r>
          </a:p>
          <a:p>
            <a:pPr>
              <a:buNone/>
            </a:pPr>
            <a:r>
              <a:rPr lang="en-US" sz="2000"/>
              <a:t>People may provide incorrect answers or hide their true opinions.</a:t>
            </a:r>
          </a:p>
          <a:p>
            <a:pPr>
              <a:buNone/>
            </a:pPr>
            <a:r>
              <a:rPr lang="en-US" sz="2000" b="1"/>
              <a:t>Example:</a:t>
            </a:r>
            <a:br>
              <a:rPr lang="en-US" sz="2000"/>
            </a:br>
            <a:r>
              <a:rPr lang="en-US" sz="2000"/>
              <a:t>Employees may not honestly report dissatisfaction because they fear consequences.</a:t>
            </a:r>
          </a:p>
          <a:p>
            <a:endParaRPr lang="en-US" sz="2000"/>
          </a:p>
          <a:p>
            <a:pPr marL="0" indent="0">
              <a:buNone/>
            </a:pPr>
            <a:r>
              <a:rPr lang="en-US" sz="2000" b="1"/>
              <a:t>2. Limited Depth of Information</a:t>
            </a:r>
          </a:p>
          <a:p>
            <a:r>
              <a:rPr lang="en-US" sz="2000"/>
              <a:t>Short survey answers may not explain the reasons behind people's opinions.</a:t>
            </a:r>
          </a:p>
          <a:p>
            <a:r>
              <a:rPr lang="en-US" sz="2000" b="1"/>
              <a:t>Example:</a:t>
            </a:r>
            <a:br>
              <a:rPr lang="en-US" sz="2000"/>
            </a:br>
            <a:r>
              <a:rPr lang="en-US" sz="2000"/>
              <a:t>A customer may say a product is "not good" but may not explain the exact problem.</a:t>
            </a:r>
          </a:p>
          <a:p>
            <a:endParaRPr lang="en-US" sz="2000"/>
          </a:p>
        </p:txBody>
      </p:sp>
    </p:spTree>
    <p:extLst>
      <p:ext uri="{BB962C8B-B14F-4D97-AF65-F5344CB8AC3E}">
        <p14:creationId xmlns:p14="http://schemas.microsoft.com/office/powerpoint/2010/main" val="931937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75308-AD7F-CB02-C25E-FA076437DFFF}"/>
              </a:ext>
            </a:extLst>
          </p:cNvPr>
          <p:cNvSpPr>
            <a:spLocks noGrp="1"/>
          </p:cNvSpPr>
          <p:nvPr>
            <p:ph type="title"/>
          </p:nvPr>
        </p:nvSpPr>
        <p:spPr/>
        <p:txBody>
          <a:bodyPr/>
          <a:lstStyle/>
          <a:p>
            <a:r>
              <a:rPr lang="en-US" dirty="0"/>
              <a:t>Case: What Do Viewers Really Want? The Research Story Behind Netflix’s Success</a:t>
            </a:r>
          </a:p>
        </p:txBody>
      </p:sp>
      <p:sp>
        <p:nvSpPr>
          <p:cNvPr id="3" name="Content Placeholder 2">
            <a:extLst>
              <a:ext uri="{FF2B5EF4-FFF2-40B4-BE49-F238E27FC236}">
                <a16:creationId xmlns:a16="http://schemas.microsoft.com/office/drawing/2014/main" id="{BDBF670F-0725-DCF8-7C2F-F9FEC0DF270B}"/>
              </a:ext>
            </a:extLst>
          </p:cNvPr>
          <p:cNvSpPr>
            <a:spLocks noGrp="1"/>
          </p:cNvSpPr>
          <p:nvPr>
            <p:ph idx="1"/>
          </p:nvPr>
        </p:nvSpPr>
        <p:spPr>
          <a:xfrm>
            <a:off x="401053" y="1825625"/>
            <a:ext cx="11293641" cy="4667250"/>
          </a:xfrm>
        </p:spPr>
        <p:txBody>
          <a:bodyPr>
            <a:normAutofit fontScale="92500" lnSpcReduction="10000"/>
          </a:bodyPr>
          <a:lstStyle/>
          <a:p>
            <a:pPr>
              <a:buNone/>
            </a:pPr>
            <a:r>
              <a:rPr lang="en-US" dirty="0"/>
              <a:t>Netflix started as a DVD rental company but later became one of the world's largest online streaming platforms. As competition increased, Netflix wanted to understand what customers liked, why they stopped watching certain shows, and what type of content they wanted in the future.</a:t>
            </a:r>
          </a:p>
          <a:p>
            <a:pPr>
              <a:buNone/>
            </a:pPr>
            <a:r>
              <a:rPr lang="en-US" dirty="0"/>
              <a:t>To collect information, Netflix used different research methods, including customer surveys, feedback forms, and analysis of viewing data. The company asked users about their favorite genres, satisfaction levels, and opinions about new features. The collected responses helped Netflix understand customer preferences and improve its services.</a:t>
            </a:r>
          </a:p>
          <a:p>
            <a:pPr>
              <a:buNone/>
            </a:pPr>
            <a:r>
              <a:rPr lang="en-US" dirty="0"/>
              <a:t>Based on the research findings, Netflix introduced personalized recommendations, improved its user interface, and invested in content that matched audience interests. The company used research information to make better business decisions and improve customer experience.</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541EF0B-78CE-94B8-D921-872885894AAA}"/>
                  </a:ext>
                </a:extLst>
              </p14:cNvPr>
              <p14:cNvContentPartPr/>
              <p14:nvPr/>
            </p14:nvContentPartPr>
            <p14:xfrm>
              <a:off x="9516960" y="4373280"/>
              <a:ext cx="1064520" cy="1292400"/>
            </p14:xfrm>
          </p:contentPart>
        </mc:Choice>
        <mc:Fallback>
          <p:pic>
            <p:nvPicPr>
              <p:cNvPr id="4" name="Ink 3">
                <a:extLst>
                  <a:ext uri="{FF2B5EF4-FFF2-40B4-BE49-F238E27FC236}">
                    <a16:creationId xmlns:a16="http://schemas.microsoft.com/office/drawing/2014/main" id="{2541EF0B-78CE-94B8-D921-872885894AAA}"/>
                  </a:ext>
                </a:extLst>
              </p:cNvPr>
              <p:cNvPicPr/>
              <p:nvPr/>
            </p:nvPicPr>
            <p:blipFill>
              <a:blip r:embed="rId3"/>
              <a:stretch>
                <a:fillRect/>
              </a:stretch>
            </p:blipFill>
            <p:spPr>
              <a:xfrm>
                <a:off x="9507600" y="4363920"/>
                <a:ext cx="1083240" cy="1311120"/>
              </a:xfrm>
              <a:prstGeom prst="rect">
                <a:avLst/>
              </a:prstGeom>
            </p:spPr>
          </p:pic>
        </mc:Fallback>
      </mc:AlternateContent>
    </p:spTree>
    <p:extLst>
      <p:ext uri="{BB962C8B-B14F-4D97-AF65-F5344CB8AC3E}">
        <p14:creationId xmlns:p14="http://schemas.microsoft.com/office/powerpoint/2010/main" val="3455516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C3740-72CF-9E6F-2C53-C546EA8F27AA}"/>
              </a:ext>
            </a:extLst>
          </p:cNvPr>
          <p:cNvSpPr>
            <a:spLocks noGrp="1"/>
          </p:cNvSpPr>
          <p:nvPr>
            <p:ph type="title"/>
          </p:nvPr>
        </p:nvSpPr>
        <p:spPr/>
        <p:txBody>
          <a:bodyPr/>
          <a:lstStyle/>
          <a:p>
            <a:r>
              <a:rPr lang="en-US" dirty="0"/>
              <a:t>Discussion Questions</a:t>
            </a:r>
          </a:p>
        </p:txBody>
      </p:sp>
      <p:sp>
        <p:nvSpPr>
          <p:cNvPr id="3" name="Content Placeholder 2">
            <a:extLst>
              <a:ext uri="{FF2B5EF4-FFF2-40B4-BE49-F238E27FC236}">
                <a16:creationId xmlns:a16="http://schemas.microsoft.com/office/drawing/2014/main" id="{392B4943-7184-39CA-6EE7-C736D991F5C6}"/>
              </a:ext>
            </a:extLst>
          </p:cNvPr>
          <p:cNvSpPr>
            <a:spLocks noGrp="1"/>
          </p:cNvSpPr>
          <p:nvPr>
            <p:ph idx="1"/>
          </p:nvPr>
        </p:nvSpPr>
        <p:spPr/>
        <p:txBody>
          <a:bodyPr/>
          <a:lstStyle/>
          <a:p>
            <a:pPr marL="342900" lvl="0" indent="-342900">
              <a:buFont typeface="Arial" panose="020B0604020202020204" pitchFamily="34" charset="0"/>
              <a:buChar char="•"/>
            </a:pPr>
            <a:r>
              <a:rPr lang="en-US" dirty="0"/>
              <a:t>What was the main purpose of Netflix conducting customer surveys? </a:t>
            </a:r>
          </a:p>
          <a:p>
            <a:pPr marL="342900" lvl="0" indent="-342900">
              <a:buFont typeface="Arial" panose="020B0604020202020204" pitchFamily="34" charset="0"/>
              <a:buChar char="•"/>
            </a:pPr>
            <a:r>
              <a:rPr lang="en-US" dirty="0"/>
              <a:t>What type of information did Netflix collect from customers? </a:t>
            </a:r>
          </a:p>
          <a:p>
            <a:pPr marL="342900" lvl="0" indent="-342900">
              <a:buFont typeface="Arial" panose="020B0604020202020204" pitchFamily="34" charset="0"/>
              <a:buChar char="•"/>
            </a:pPr>
            <a:r>
              <a:rPr lang="en-US" dirty="0"/>
              <a:t>How did the survey results help Netflix improve its business decisions? </a:t>
            </a:r>
          </a:p>
          <a:p>
            <a:pPr marL="342900" lvl="0" indent="-342900">
              <a:buFont typeface="Arial" panose="020B0604020202020204" pitchFamily="34" charset="0"/>
              <a:buChar char="•"/>
            </a:pPr>
            <a:r>
              <a:rPr lang="en-US" dirty="0"/>
              <a:t>Why is survey method useful for companies that have a large number of customers?</a:t>
            </a:r>
          </a:p>
          <a:p>
            <a:endParaRPr lang="en-US" dirty="0"/>
          </a:p>
        </p:txBody>
      </p:sp>
    </p:spTree>
    <p:extLst>
      <p:ext uri="{BB962C8B-B14F-4D97-AF65-F5344CB8AC3E}">
        <p14:creationId xmlns:p14="http://schemas.microsoft.com/office/powerpoint/2010/main" val="2999565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1934C88E-6B65-4EC7-7DFD-28F0227B463F}"/>
              </a:ext>
            </a:extLst>
          </p:cNvPr>
          <p:cNvSpPr>
            <a:spLocks noGrp="1"/>
          </p:cNvSpPr>
          <p:nvPr>
            <p:ph type="title"/>
          </p:nvPr>
        </p:nvSpPr>
        <p:spPr>
          <a:xfrm>
            <a:off x="838200" y="401221"/>
            <a:ext cx="10515600" cy="1348065"/>
          </a:xfrm>
        </p:spPr>
        <p:txBody>
          <a:bodyPr>
            <a:normAutofit/>
          </a:bodyPr>
          <a:lstStyle/>
          <a:p>
            <a:r>
              <a:rPr lang="en-US" sz="5400">
                <a:solidFill>
                  <a:srgbClr val="FFFFFF"/>
                </a:solidFill>
              </a:rPr>
              <a:t>Observation Method</a:t>
            </a:r>
          </a:p>
        </p:txBody>
      </p:sp>
      <p:sp>
        <p:nvSpPr>
          <p:cNvPr id="3" name="Content Placeholder 2">
            <a:extLst>
              <a:ext uri="{FF2B5EF4-FFF2-40B4-BE49-F238E27FC236}">
                <a16:creationId xmlns:a16="http://schemas.microsoft.com/office/drawing/2014/main" id="{BC6F7A37-CE8B-514C-3F77-8F375A263FA9}"/>
              </a:ext>
            </a:extLst>
          </p:cNvPr>
          <p:cNvSpPr>
            <a:spLocks noGrp="1"/>
          </p:cNvSpPr>
          <p:nvPr>
            <p:ph idx="1"/>
          </p:nvPr>
        </p:nvSpPr>
        <p:spPr>
          <a:xfrm>
            <a:off x="838200" y="2586789"/>
            <a:ext cx="10515600" cy="3590174"/>
          </a:xfrm>
        </p:spPr>
        <p:txBody>
          <a:bodyPr>
            <a:normAutofit/>
          </a:bodyPr>
          <a:lstStyle/>
          <a:p>
            <a:pPr>
              <a:buNone/>
            </a:pPr>
            <a:r>
              <a:rPr lang="en-US" sz="1700" b="1"/>
              <a:t>Meaning of Observation Method</a:t>
            </a:r>
          </a:p>
          <a:p>
            <a:pPr>
              <a:buNone/>
            </a:pPr>
            <a:r>
              <a:rPr lang="en-US" sz="1700"/>
              <a:t>Observation method involves collecting information by </a:t>
            </a:r>
            <a:r>
              <a:rPr lang="en-US" sz="1700" b="1"/>
              <a:t>watching and recording people's behavior, actions, or events</a:t>
            </a:r>
            <a:r>
              <a:rPr lang="en-US" sz="1700"/>
              <a:t>.</a:t>
            </a:r>
          </a:p>
          <a:p>
            <a:pPr>
              <a:buNone/>
            </a:pPr>
            <a:r>
              <a:rPr lang="en-US" sz="1700"/>
              <a:t>The researcher does not ask questions but studies what actually happens.</a:t>
            </a:r>
          </a:p>
          <a:p>
            <a:endParaRPr lang="en-US" sz="1700"/>
          </a:p>
          <a:p>
            <a:pPr>
              <a:buNone/>
            </a:pPr>
            <a:r>
              <a:rPr lang="en-US" sz="1700"/>
              <a:t>Types:</a:t>
            </a:r>
          </a:p>
          <a:p>
            <a:pPr>
              <a:buNone/>
            </a:pPr>
            <a:r>
              <a:rPr lang="en-US" sz="1700" b="1"/>
              <a:t>1. Participant Observation: </a:t>
            </a:r>
            <a:r>
              <a:rPr lang="en-US" sz="1700"/>
              <a:t>The researcher becomes part of the group being studied and observes activities. </a:t>
            </a:r>
            <a:r>
              <a:rPr lang="en-US" sz="1700" b="1"/>
              <a:t>Example: </a:t>
            </a:r>
            <a:r>
              <a:rPr lang="en-US" sz="1700"/>
              <a:t>A researcher joins a retail store as an employee to study customer service practices.</a:t>
            </a:r>
            <a:br>
              <a:rPr lang="en-US" sz="1700"/>
            </a:br>
            <a:endParaRPr lang="en-US" sz="1700"/>
          </a:p>
          <a:p>
            <a:pPr>
              <a:buNone/>
            </a:pPr>
            <a:r>
              <a:rPr lang="en-US" sz="1700" b="1"/>
              <a:t>2. Non-Participant Observation: </a:t>
            </a:r>
            <a:r>
              <a:rPr lang="en-US" sz="1700"/>
              <a:t>The researcher observes from outside without becoming involved. </a:t>
            </a:r>
            <a:r>
              <a:rPr lang="en-US" sz="1700" b="1"/>
              <a:t>Example: </a:t>
            </a:r>
            <a:r>
              <a:rPr lang="en-US" sz="1700"/>
              <a:t>A researcher watches customer movement inside a supermarket to study shopping behavior.</a:t>
            </a:r>
          </a:p>
          <a:p>
            <a:endParaRPr lang="en-US" sz="1700"/>
          </a:p>
          <a:p>
            <a:endParaRPr lang="en-US" sz="1700"/>
          </a:p>
        </p:txBody>
      </p:sp>
    </p:spTree>
    <p:extLst>
      <p:ext uri="{BB962C8B-B14F-4D97-AF65-F5344CB8AC3E}">
        <p14:creationId xmlns:p14="http://schemas.microsoft.com/office/powerpoint/2010/main" val="1524422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F1D79024-9F2A-4F1B-BE3D-83B7C97A7741}"/>
              </a:ext>
            </a:extLst>
          </p:cNvPr>
          <p:cNvSpPr>
            <a:spLocks noGrp="1"/>
          </p:cNvSpPr>
          <p:nvPr>
            <p:ph type="title"/>
          </p:nvPr>
        </p:nvSpPr>
        <p:spPr>
          <a:xfrm>
            <a:off x="838200" y="401221"/>
            <a:ext cx="10515600" cy="1348065"/>
          </a:xfrm>
        </p:spPr>
        <p:txBody>
          <a:bodyPr>
            <a:normAutofit/>
          </a:bodyPr>
          <a:lstStyle/>
          <a:p>
            <a:r>
              <a:rPr lang="en-US" sz="5400">
                <a:solidFill>
                  <a:srgbClr val="FFFFFF"/>
                </a:solidFill>
              </a:rPr>
              <a:t>Case Study Method</a:t>
            </a:r>
          </a:p>
        </p:txBody>
      </p:sp>
      <p:sp>
        <p:nvSpPr>
          <p:cNvPr id="3" name="Content Placeholder 2">
            <a:extLst>
              <a:ext uri="{FF2B5EF4-FFF2-40B4-BE49-F238E27FC236}">
                <a16:creationId xmlns:a16="http://schemas.microsoft.com/office/drawing/2014/main" id="{EF6126F4-B0E4-07D2-C8C4-C8DAC5D03097}"/>
              </a:ext>
            </a:extLst>
          </p:cNvPr>
          <p:cNvSpPr>
            <a:spLocks noGrp="1"/>
          </p:cNvSpPr>
          <p:nvPr>
            <p:ph idx="1"/>
          </p:nvPr>
        </p:nvSpPr>
        <p:spPr>
          <a:xfrm>
            <a:off x="838200" y="2586789"/>
            <a:ext cx="10515600" cy="3590174"/>
          </a:xfrm>
        </p:spPr>
        <p:txBody>
          <a:bodyPr>
            <a:normAutofit/>
          </a:bodyPr>
          <a:lstStyle/>
          <a:p>
            <a:pPr>
              <a:buNone/>
            </a:pPr>
            <a:r>
              <a:rPr lang="en-US" sz="1700"/>
              <a:t>A case study is an in-depth investigation of a single person, organization, event, or situation. It provides detailed understanding of a specific case.</a:t>
            </a:r>
          </a:p>
          <a:p>
            <a:r>
              <a:rPr lang="en-US" sz="1700" b="1"/>
              <a:t>Sources</a:t>
            </a:r>
            <a:r>
              <a:rPr lang="en-US" sz="1700"/>
              <a:t> </a:t>
            </a:r>
          </a:p>
          <a:p>
            <a:pPr>
              <a:buNone/>
            </a:pPr>
            <a:r>
              <a:rPr lang="en-US" sz="1700" b="1"/>
              <a:t>1. Interviews: </a:t>
            </a:r>
            <a:r>
              <a:rPr lang="en-US" sz="1700"/>
              <a:t>Researchers collect information by talking with people involved in the case. </a:t>
            </a:r>
            <a:r>
              <a:rPr lang="en-US" sz="1700" b="1"/>
              <a:t>Example: </a:t>
            </a:r>
            <a:r>
              <a:rPr lang="en-US" sz="1700"/>
              <a:t>Interviewing managers to study how a company improved its performance.</a:t>
            </a:r>
            <a:br>
              <a:rPr lang="en-US" sz="1700"/>
            </a:br>
            <a:endParaRPr lang="en-US" sz="1700"/>
          </a:p>
          <a:p>
            <a:pPr>
              <a:buNone/>
            </a:pPr>
            <a:r>
              <a:rPr lang="en-US" sz="1700" b="1"/>
              <a:t>2. Documents and Records: </a:t>
            </a:r>
            <a:r>
              <a:rPr lang="en-US" sz="1700"/>
              <a:t>Researchers analyze reports, files, articles, and historical information. </a:t>
            </a:r>
            <a:r>
              <a:rPr lang="en-US" sz="1700" b="1"/>
              <a:t>Example: </a:t>
            </a:r>
            <a:r>
              <a:rPr lang="en-US" sz="1700"/>
              <a:t>Studying company reports to understand reasons behind financial growth.</a:t>
            </a:r>
          </a:p>
          <a:p>
            <a:pPr>
              <a:buNone/>
            </a:pPr>
            <a:endParaRPr lang="en-US" sz="1700"/>
          </a:p>
          <a:p>
            <a:pPr>
              <a:buNone/>
            </a:pPr>
            <a:r>
              <a:rPr lang="en-US" sz="1700" b="1"/>
              <a:t>3. Direct Observation: </a:t>
            </a:r>
            <a:r>
              <a:rPr lang="en-US" sz="1700"/>
              <a:t>Researchers observe activities related to the case. </a:t>
            </a:r>
            <a:r>
              <a:rPr lang="en-US" sz="1700" b="1"/>
              <a:t>Example: </a:t>
            </a:r>
            <a:r>
              <a:rPr lang="en-US" sz="1700"/>
              <a:t>Observing production processes in a factory to identify efficiency problems.</a:t>
            </a:r>
          </a:p>
          <a:p>
            <a:endParaRPr lang="en-US" sz="1700"/>
          </a:p>
        </p:txBody>
      </p:sp>
    </p:spTree>
    <p:extLst>
      <p:ext uri="{BB962C8B-B14F-4D97-AF65-F5344CB8AC3E}">
        <p14:creationId xmlns:p14="http://schemas.microsoft.com/office/powerpoint/2010/main" val="2091835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347694B6-1A5A-9E15-42A2-3E1D8BE000EC}"/>
              </a:ext>
            </a:extLst>
          </p:cNvPr>
          <p:cNvSpPr>
            <a:spLocks noGrp="1"/>
          </p:cNvSpPr>
          <p:nvPr>
            <p:ph type="title"/>
          </p:nvPr>
        </p:nvSpPr>
        <p:spPr>
          <a:xfrm>
            <a:off x="838200" y="401221"/>
            <a:ext cx="10515600" cy="1348065"/>
          </a:xfrm>
        </p:spPr>
        <p:txBody>
          <a:bodyPr>
            <a:normAutofit/>
          </a:bodyPr>
          <a:lstStyle/>
          <a:p>
            <a:r>
              <a:rPr lang="en-US" sz="5400">
                <a:solidFill>
                  <a:srgbClr val="FFFFFF"/>
                </a:solidFill>
              </a:rPr>
              <a:t>Qualitative Research</a:t>
            </a:r>
          </a:p>
        </p:txBody>
      </p:sp>
      <p:sp>
        <p:nvSpPr>
          <p:cNvPr id="3" name="Content Placeholder 2">
            <a:extLst>
              <a:ext uri="{FF2B5EF4-FFF2-40B4-BE49-F238E27FC236}">
                <a16:creationId xmlns:a16="http://schemas.microsoft.com/office/drawing/2014/main" id="{6D2C558B-58D0-4AB0-5E1C-876C0C61FA62}"/>
              </a:ext>
            </a:extLst>
          </p:cNvPr>
          <p:cNvSpPr>
            <a:spLocks noGrp="1"/>
          </p:cNvSpPr>
          <p:nvPr>
            <p:ph idx="1"/>
          </p:nvPr>
        </p:nvSpPr>
        <p:spPr>
          <a:xfrm>
            <a:off x="838200" y="2586789"/>
            <a:ext cx="10515600" cy="3590174"/>
          </a:xfrm>
        </p:spPr>
        <p:txBody>
          <a:bodyPr>
            <a:normAutofit/>
          </a:bodyPr>
          <a:lstStyle/>
          <a:p>
            <a:pPr>
              <a:buNone/>
            </a:pPr>
            <a:r>
              <a:rPr lang="en-US" sz="2200"/>
              <a:t>Qualitative research is a research approach that studies human experiences, opinions, feelings, and behaviours.</a:t>
            </a:r>
          </a:p>
          <a:p>
            <a:pPr>
              <a:buNone/>
            </a:pPr>
            <a:r>
              <a:rPr lang="en-US" sz="2200"/>
              <a:t>It mainly uses words and descriptions instead of numerical data.</a:t>
            </a:r>
          </a:p>
          <a:p>
            <a:pPr>
              <a:buNone/>
            </a:pPr>
            <a:r>
              <a:rPr lang="en-US" sz="2200" b="1"/>
              <a:t>Data Collection Methods:</a:t>
            </a:r>
          </a:p>
          <a:p>
            <a:pPr marL="342900" lvl="0" indent="-342900">
              <a:buFont typeface="Arial" panose="020B0604020202020204" pitchFamily="34" charset="0"/>
              <a:buChar char="•"/>
            </a:pPr>
            <a:r>
              <a:rPr lang="en-US" sz="2200"/>
              <a:t>Interview </a:t>
            </a:r>
          </a:p>
          <a:p>
            <a:pPr marL="342900" lvl="0" indent="-342900">
              <a:buFont typeface="Arial" panose="020B0604020202020204" pitchFamily="34" charset="0"/>
              <a:buChar char="•"/>
            </a:pPr>
            <a:r>
              <a:rPr lang="en-US" sz="2200"/>
              <a:t>Observation </a:t>
            </a:r>
          </a:p>
          <a:p>
            <a:pPr marL="342900" lvl="0" indent="-342900">
              <a:buFont typeface="Arial" panose="020B0604020202020204" pitchFamily="34" charset="0"/>
              <a:buChar char="•"/>
            </a:pPr>
            <a:r>
              <a:rPr lang="en-US" sz="2200"/>
              <a:t>Focus group discussion</a:t>
            </a:r>
          </a:p>
          <a:p>
            <a:endParaRPr lang="en-US" sz="2200"/>
          </a:p>
        </p:txBody>
      </p:sp>
    </p:spTree>
    <p:extLst>
      <p:ext uri="{BB962C8B-B14F-4D97-AF65-F5344CB8AC3E}">
        <p14:creationId xmlns:p14="http://schemas.microsoft.com/office/powerpoint/2010/main" val="3162607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7B1E56-B3AD-C871-AEF5-832EAA1FD39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B1DAF02-AB7F-958F-18C1-89952261AAF5}"/>
              </a:ext>
            </a:extLst>
          </p:cNvPr>
          <p:cNvSpPr>
            <a:spLocks noGrp="1"/>
          </p:cNvSpPr>
          <p:nvPr>
            <p:ph type="title"/>
          </p:nvPr>
        </p:nvSpPr>
        <p:spPr>
          <a:xfrm>
            <a:off x="838200" y="401221"/>
            <a:ext cx="10515600" cy="1348065"/>
          </a:xfrm>
        </p:spPr>
        <p:txBody>
          <a:bodyPr>
            <a:normAutofit/>
          </a:bodyPr>
          <a:lstStyle/>
          <a:p>
            <a:r>
              <a:rPr lang="en-US" sz="5400">
                <a:solidFill>
                  <a:srgbClr val="FFFFFF"/>
                </a:solidFill>
              </a:rPr>
              <a:t>Qualitative Research (Cont.)</a:t>
            </a:r>
          </a:p>
        </p:txBody>
      </p:sp>
      <p:sp>
        <p:nvSpPr>
          <p:cNvPr id="3" name="Content Placeholder 2">
            <a:extLst>
              <a:ext uri="{FF2B5EF4-FFF2-40B4-BE49-F238E27FC236}">
                <a16:creationId xmlns:a16="http://schemas.microsoft.com/office/drawing/2014/main" id="{06D74751-FF4F-56A3-B1B5-13397DE61CA0}"/>
              </a:ext>
            </a:extLst>
          </p:cNvPr>
          <p:cNvSpPr>
            <a:spLocks noGrp="1"/>
          </p:cNvSpPr>
          <p:nvPr>
            <p:ph idx="1"/>
          </p:nvPr>
        </p:nvSpPr>
        <p:spPr>
          <a:xfrm>
            <a:off x="838200" y="2586789"/>
            <a:ext cx="10515600" cy="3590174"/>
          </a:xfrm>
        </p:spPr>
        <p:txBody>
          <a:bodyPr>
            <a:normAutofit/>
          </a:bodyPr>
          <a:lstStyle/>
          <a:p>
            <a:pPr>
              <a:buNone/>
            </a:pPr>
            <a:r>
              <a:rPr lang="en-US" sz="2200" b="1"/>
              <a:t>Advantages:</a:t>
            </a:r>
          </a:p>
          <a:p>
            <a:pPr marL="342900" lvl="0" indent="-342900">
              <a:buFont typeface="Arial" panose="020B0604020202020204" pitchFamily="34" charset="0"/>
              <a:buChar char="•"/>
            </a:pPr>
            <a:r>
              <a:rPr lang="en-US" sz="2200"/>
              <a:t>Provides detailed information. </a:t>
            </a:r>
          </a:p>
          <a:p>
            <a:pPr marL="342900" lvl="0" indent="-342900">
              <a:buFont typeface="Arial" panose="020B0604020202020204" pitchFamily="34" charset="0"/>
              <a:buChar char="•"/>
            </a:pPr>
            <a:r>
              <a:rPr lang="en-US" sz="2200"/>
              <a:t>Helps understand human behaviour deeply. </a:t>
            </a:r>
          </a:p>
          <a:p>
            <a:pPr>
              <a:buNone/>
            </a:pPr>
            <a:r>
              <a:rPr lang="en-US" sz="2200" b="1"/>
              <a:t>Limitations:</a:t>
            </a:r>
          </a:p>
          <a:p>
            <a:pPr marL="342900" lvl="0" indent="-342900">
              <a:buFont typeface="Arial" panose="020B0604020202020204" pitchFamily="34" charset="0"/>
              <a:buChar char="•"/>
            </a:pPr>
            <a:r>
              <a:rPr lang="en-US" sz="2200"/>
              <a:t>Takes more time. </a:t>
            </a:r>
          </a:p>
          <a:p>
            <a:pPr marL="342900" lvl="0" indent="-342900">
              <a:buFont typeface="Arial" panose="020B0604020202020204" pitchFamily="34" charset="0"/>
              <a:buChar char="•"/>
            </a:pPr>
            <a:r>
              <a:rPr lang="en-US" sz="2200"/>
              <a:t>Results may not represent a large population.</a:t>
            </a:r>
          </a:p>
          <a:p>
            <a:endParaRPr lang="en-US" sz="2200"/>
          </a:p>
        </p:txBody>
      </p:sp>
    </p:spTree>
    <p:extLst>
      <p:ext uri="{BB962C8B-B14F-4D97-AF65-F5344CB8AC3E}">
        <p14:creationId xmlns:p14="http://schemas.microsoft.com/office/powerpoint/2010/main" val="2921199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8EFCD898-F70E-A6E1-13B7-BBC06D4E8B7F}"/>
              </a:ext>
            </a:extLst>
          </p:cNvPr>
          <p:cNvSpPr>
            <a:spLocks noGrp="1"/>
          </p:cNvSpPr>
          <p:nvPr>
            <p:ph type="title"/>
          </p:nvPr>
        </p:nvSpPr>
        <p:spPr>
          <a:xfrm>
            <a:off x="838200" y="401221"/>
            <a:ext cx="10515600" cy="1348065"/>
          </a:xfrm>
        </p:spPr>
        <p:txBody>
          <a:bodyPr>
            <a:normAutofit/>
          </a:bodyPr>
          <a:lstStyle/>
          <a:p>
            <a:r>
              <a:rPr lang="en-US" sz="5400">
                <a:solidFill>
                  <a:srgbClr val="FFFFFF"/>
                </a:solidFill>
              </a:rPr>
              <a:t>Quantitative Research</a:t>
            </a:r>
          </a:p>
        </p:txBody>
      </p:sp>
      <p:sp>
        <p:nvSpPr>
          <p:cNvPr id="3" name="Content Placeholder 2">
            <a:extLst>
              <a:ext uri="{FF2B5EF4-FFF2-40B4-BE49-F238E27FC236}">
                <a16:creationId xmlns:a16="http://schemas.microsoft.com/office/drawing/2014/main" id="{D43854F7-84C1-92BF-F025-AB46113B8BBC}"/>
              </a:ext>
            </a:extLst>
          </p:cNvPr>
          <p:cNvSpPr>
            <a:spLocks noGrp="1"/>
          </p:cNvSpPr>
          <p:nvPr>
            <p:ph idx="1"/>
          </p:nvPr>
        </p:nvSpPr>
        <p:spPr>
          <a:xfrm>
            <a:off x="838200" y="2586789"/>
            <a:ext cx="10515600" cy="3590174"/>
          </a:xfrm>
        </p:spPr>
        <p:txBody>
          <a:bodyPr>
            <a:normAutofit/>
          </a:bodyPr>
          <a:lstStyle/>
          <a:p>
            <a:pPr>
              <a:buNone/>
            </a:pPr>
            <a:r>
              <a:rPr lang="en-US" sz="2200"/>
              <a:t>Quantitative research is a research approach that collects numerical data and uses statistical methods for analysis.</a:t>
            </a:r>
          </a:p>
          <a:p>
            <a:pPr>
              <a:buNone/>
            </a:pPr>
            <a:r>
              <a:rPr lang="en-US" sz="2200"/>
              <a:t>It focuses on measuring variables and finding relationships between them.</a:t>
            </a:r>
          </a:p>
          <a:p>
            <a:pPr>
              <a:buNone/>
            </a:pPr>
            <a:r>
              <a:rPr lang="en-US" sz="2200" b="1"/>
              <a:t>Data Collection Methods:</a:t>
            </a:r>
          </a:p>
          <a:p>
            <a:pPr marL="342900" lvl="0" indent="-342900">
              <a:buFont typeface="Arial" panose="020B0604020202020204" pitchFamily="34" charset="0"/>
              <a:buChar char="•"/>
            </a:pPr>
            <a:r>
              <a:rPr lang="en-US" sz="2200"/>
              <a:t>Questionnaire survey </a:t>
            </a:r>
          </a:p>
          <a:p>
            <a:pPr marL="342900" lvl="0" indent="-342900">
              <a:buFont typeface="Arial" panose="020B0604020202020204" pitchFamily="34" charset="0"/>
              <a:buChar char="•"/>
            </a:pPr>
            <a:r>
              <a:rPr lang="en-US" sz="2200"/>
              <a:t>Experiment </a:t>
            </a:r>
          </a:p>
          <a:p>
            <a:pPr marL="342900" lvl="0" indent="-342900">
              <a:buFont typeface="Arial" panose="020B0604020202020204" pitchFamily="34" charset="0"/>
              <a:buChar char="•"/>
            </a:pPr>
            <a:r>
              <a:rPr lang="en-US" sz="2200"/>
              <a:t>Statistical records</a:t>
            </a:r>
          </a:p>
          <a:p>
            <a:endParaRPr lang="en-US" sz="2200"/>
          </a:p>
        </p:txBody>
      </p:sp>
    </p:spTree>
    <p:extLst>
      <p:ext uri="{BB962C8B-B14F-4D97-AF65-F5344CB8AC3E}">
        <p14:creationId xmlns:p14="http://schemas.microsoft.com/office/powerpoint/2010/main" val="255312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7DE74-01C9-4859-B65A-85CF999E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68C0432-0E90-4CC1-8CD3-D44A90DF0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chemeClr val="accent2"/>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48E9783-9A05-57B0-3017-745E114AF700}"/>
              </a:ext>
            </a:extLst>
          </p:cNvPr>
          <p:cNvSpPr>
            <a:spLocks noGrp="1"/>
          </p:cNvSpPr>
          <p:nvPr>
            <p:ph type="title"/>
          </p:nvPr>
        </p:nvSpPr>
        <p:spPr>
          <a:xfrm>
            <a:off x="838200" y="401221"/>
            <a:ext cx="10515600" cy="1348065"/>
          </a:xfrm>
        </p:spPr>
        <p:txBody>
          <a:bodyPr>
            <a:normAutofit/>
          </a:bodyPr>
          <a:lstStyle/>
          <a:p>
            <a:r>
              <a:rPr kumimoji="0" lang="en-US" sz="5400" b="0" i="0" u="none" strike="noStrike" kern="1200" cap="none" spc="0" normalizeH="0" baseline="0" noProof="0">
                <a:ln>
                  <a:noFill/>
                </a:ln>
                <a:solidFill>
                  <a:srgbClr val="FFFFFF"/>
                </a:solidFill>
                <a:effectLst/>
                <a:uLnTx/>
                <a:uFillTx/>
                <a:latin typeface="Aptos Display" panose="02110004020202020204"/>
                <a:ea typeface="+mj-ea"/>
                <a:cs typeface="+mj-cs"/>
              </a:rPr>
              <a:t>Quantitative Research (cont.)</a:t>
            </a:r>
            <a:endParaRPr lang="en-US" sz="5400">
              <a:solidFill>
                <a:srgbClr val="FFFFFF"/>
              </a:solidFill>
            </a:endParaRPr>
          </a:p>
        </p:txBody>
      </p:sp>
      <p:sp>
        <p:nvSpPr>
          <p:cNvPr id="3" name="Content Placeholder 2">
            <a:extLst>
              <a:ext uri="{FF2B5EF4-FFF2-40B4-BE49-F238E27FC236}">
                <a16:creationId xmlns:a16="http://schemas.microsoft.com/office/drawing/2014/main" id="{9A3C2D8F-1C7F-679A-9594-D4F2EEAC4BF0}"/>
              </a:ext>
            </a:extLst>
          </p:cNvPr>
          <p:cNvSpPr>
            <a:spLocks noGrp="1"/>
          </p:cNvSpPr>
          <p:nvPr>
            <p:ph idx="1"/>
          </p:nvPr>
        </p:nvSpPr>
        <p:spPr>
          <a:xfrm>
            <a:off x="838200" y="2586789"/>
            <a:ext cx="10515600" cy="3590174"/>
          </a:xfrm>
        </p:spPr>
        <p:txBody>
          <a:bodyPr>
            <a:normAutofit/>
          </a:bodyPr>
          <a:lstStyle/>
          <a:p>
            <a:pPr>
              <a:buNone/>
            </a:pPr>
            <a:r>
              <a:rPr lang="en-US" sz="2200" b="1"/>
              <a:t>Advantages:</a:t>
            </a:r>
          </a:p>
          <a:p>
            <a:pPr marL="342900" lvl="0" indent="-342900">
              <a:buFont typeface="Arial" panose="020B0604020202020204" pitchFamily="34" charset="0"/>
              <a:buChar char="•"/>
            </a:pPr>
            <a:r>
              <a:rPr lang="en-US" sz="2200"/>
              <a:t>Results can be measured scientifically. </a:t>
            </a:r>
          </a:p>
          <a:p>
            <a:pPr marL="342900" lvl="0" indent="-342900">
              <a:buFont typeface="Arial" panose="020B0604020202020204" pitchFamily="34" charset="0"/>
              <a:buChar char="•"/>
            </a:pPr>
            <a:r>
              <a:rPr lang="en-US" sz="2200"/>
              <a:t>Suitable for large samples. </a:t>
            </a:r>
          </a:p>
          <a:p>
            <a:pPr>
              <a:buNone/>
            </a:pPr>
            <a:r>
              <a:rPr lang="en-US" sz="2200" b="1"/>
              <a:t>Limitations:</a:t>
            </a:r>
          </a:p>
          <a:p>
            <a:pPr marL="342900" lvl="0" indent="-342900">
              <a:buFont typeface="Arial" panose="020B0604020202020204" pitchFamily="34" charset="0"/>
              <a:buChar char="•"/>
            </a:pPr>
            <a:r>
              <a:rPr lang="en-US" sz="2200"/>
              <a:t>Cannot deeply explain feelings or opinions.</a:t>
            </a:r>
          </a:p>
          <a:p>
            <a:endParaRPr lang="en-US" sz="2200"/>
          </a:p>
        </p:txBody>
      </p:sp>
    </p:spTree>
    <p:extLst>
      <p:ext uri="{BB962C8B-B14F-4D97-AF65-F5344CB8AC3E}">
        <p14:creationId xmlns:p14="http://schemas.microsoft.com/office/powerpoint/2010/main" val="3129112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B3BC3-DBA7-DB4A-D039-B2CF2FB27248}"/>
              </a:ext>
            </a:extLst>
          </p:cNvPr>
          <p:cNvSpPr>
            <a:spLocks noGrp="1"/>
          </p:cNvSpPr>
          <p:nvPr>
            <p:ph type="title"/>
          </p:nvPr>
        </p:nvSpPr>
        <p:spPr/>
        <p:txBody>
          <a:bodyPr/>
          <a:lstStyle/>
          <a:p>
            <a:r>
              <a:rPr lang="en-US" dirty="0"/>
              <a:t>Case: Can a Fitness App Really Change People’s Lifestyle?</a:t>
            </a:r>
          </a:p>
        </p:txBody>
      </p:sp>
      <p:sp>
        <p:nvSpPr>
          <p:cNvPr id="3" name="Content Placeholder 2">
            <a:extLst>
              <a:ext uri="{FF2B5EF4-FFF2-40B4-BE49-F238E27FC236}">
                <a16:creationId xmlns:a16="http://schemas.microsoft.com/office/drawing/2014/main" id="{6968CC6D-C651-7069-CFF8-8F8EA3D61F5A}"/>
              </a:ext>
            </a:extLst>
          </p:cNvPr>
          <p:cNvSpPr>
            <a:spLocks noGrp="1"/>
          </p:cNvSpPr>
          <p:nvPr>
            <p:ph idx="1"/>
          </p:nvPr>
        </p:nvSpPr>
        <p:spPr/>
        <p:txBody>
          <a:bodyPr>
            <a:normAutofit fontScale="92500" lnSpcReduction="20000"/>
          </a:bodyPr>
          <a:lstStyle/>
          <a:p>
            <a:pPr>
              <a:buNone/>
            </a:pPr>
            <a:r>
              <a:rPr lang="en-US" dirty="0"/>
              <a:t>A health technology company launched a new fitness application that helps users track daily exercise, calorie intake, and sleeping habits. After one year, the company wanted to know whether using the app actually improved users' health </a:t>
            </a:r>
            <a:r>
              <a:rPr lang="en-US" dirty="0" err="1"/>
              <a:t>behaviour</a:t>
            </a:r>
            <a:r>
              <a:rPr lang="en-US" dirty="0"/>
              <a:t>. The management wanted evidence based on measurable data rather than personal opinions.</a:t>
            </a:r>
          </a:p>
          <a:p>
            <a:pPr>
              <a:buNone/>
            </a:pPr>
            <a:r>
              <a:rPr lang="en-US" dirty="0"/>
              <a:t>The research team planned to study 5,000 users and collect information about their daily exercise time, weight changes, number of steps, and app usage frequency. They also wanted to compare users who regularly used the app with those who stopped using it after a few weeks.</a:t>
            </a:r>
          </a:p>
          <a:p>
            <a:pPr>
              <a:buNone/>
            </a:pPr>
            <a:r>
              <a:rPr lang="en-US" dirty="0"/>
              <a:t>The company needs to select an appropriate quantitative research method to collect and analyze numerical information. The research findings will help the company decide whether to invest more in improving the application.</a:t>
            </a:r>
          </a:p>
          <a:p>
            <a:endParaRPr lang="en-US" dirty="0"/>
          </a:p>
        </p:txBody>
      </p:sp>
    </p:spTree>
    <p:extLst>
      <p:ext uri="{BB962C8B-B14F-4D97-AF65-F5344CB8AC3E}">
        <p14:creationId xmlns:p14="http://schemas.microsoft.com/office/powerpoint/2010/main" val="2724652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1D91A-F055-1223-87F3-C5A512F159C8}"/>
              </a:ext>
            </a:extLst>
          </p:cNvPr>
          <p:cNvSpPr>
            <a:spLocks noGrp="1"/>
          </p:cNvSpPr>
          <p:nvPr>
            <p:ph type="title"/>
          </p:nvPr>
        </p:nvSpPr>
        <p:spPr/>
        <p:txBody>
          <a:bodyPr/>
          <a:lstStyle/>
          <a:p>
            <a:r>
              <a:rPr lang="en-US" dirty="0"/>
              <a:t>Discussion Questions</a:t>
            </a:r>
          </a:p>
        </p:txBody>
      </p:sp>
      <p:sp>
        <p:nvSpPr>
          <p:cNvPr id="3" name="Content Placeholder 2">
            <a:extLst>
              <a:ext uri="{FF2B5EF4-FFF2-40B4-BE49-F238E27FC236}">
                <a16:creationId xmlns:a16="http://schemas.microsoft.com/office/drawing/2014/main" id="{41480F66-F3B6-0414-3DFB-59D9E3C449B0}"/>
              </a:ext>
            </a:extLst>
          </p:cNvPr>
          <p:cNvSpPr>
            <a:spLocks noGrp="1"/>
          </p:cNvSpPr>
          <p:nvPr>
            <p:ph idx="1"/>
          </p:nvPr>
        </p:nvSpPr>
        <p:spPr/>
        <p:txBody>
          <a:bodyPr/>
          <a:lstStyle/>
          <a:p>
            <a:pPr marL="342900" lvl="0" indent="-342900">
              <a:buFont typeface="Arial" panose="020B0604020202020204" pitchFamily="34" charset="0"/>
              <a:buChar char="•"/>
            </a:pPr>
            <a:r>
              <a:rPr lang="en-US" dirty="0"/>
              <a:t>What type of quantitative research data does the company need to collect? </a:t>
            </a:r>
          </a:p>
          <a:p>
            <a:pPr marL="342900" lvl="0" indent="-342900">
              <a:buFont typeface="Arial" panose="020B0604020202020204" pitchFamily="34" charset="0"/>
              <a:buChar char="•"/>
            </a:pPr>
            <a:r>
              <a:rPr lang="en-US" dirty="0"/>
              <a:t>Which data collection method would be most suitable for this research: questionnaire survey, experiment, or statistical records? Why? </a:t>
            </a:r>
          </a:p>
          <a:p>
            <a:pPr marL="342900" lvl="0" indent="-342900">
              <a:buFont typeface="Arial" panose="020B0604020202020204" pitchFamily="34" charset="0"/>
              <a:buChar char="•"/>
            </a:pPr>
            <a:r>
              <a:rPr lang="en-US" dirty="0"/>
              <a:t>What variables should researchers measure in this study?</a:t>
            </a:r>
          </a:p>
          <a:p>
            <a:endParaRPr lang="en-US" dirty="0"/>
          </a:p>
        </p:txBody>
      </p:sp>
    </p:spTree>
    <p:extLst>
      <p:ext uri="{BB962C8B-B14F-4D97-AF65-F5344CB8AC3E}">
        <p14:creationId xmlns:p14="http://schemas.microsoft.com/office/powerpoint/2010/main" val="37978131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5DA246-3409-A1EB-075D-B651614BCD62}"/>
              </a:ext>
            </a:extLst>
          </p:cNvPr>
          <p:cNvSpPr>
            <a:spLocks noGrp="1"/>
          </p:cNvSpPr>
          <p:nvPr>
            <p:ph type="title"/>
          </p:nvPr>
        </p:nvSpPr>
        <p:spPr>
          <a:xfrm>
            <a:off x="4162567" y="818984"/>
            <a:ext cx="6714699" cy="3178689"/>
          </a:xfrm>
        </p:spPr>
        <p:txBody>
          <a:bodyPr vert="horz" lIns="91440" tIns="45720" rIns="91440" bIns="45720" rtlCol="0" anchor="b">
            <a:normAutofit/>
          </a:bodyPr>
          <a:lstStyle/>
          <a:p>
            <a:r>
              <a:rPr lang="en-US" sz="4800" kern="1200">
                <a:solidFill>
                  <a:srgbClr val="FFFFFF"/>
                </a:solidFill>
                <a:latin typeface="+mj-lt"/>
                <a:ea typeface="+mj-ea"/>
                <a:cs typeface="+mj-cs"/>
              </a:rPr>
              <a:t>Thank You</a:t>
            </a:r>
          </a:p>
        </p:txBody>
      </p:sp>
      <p:sp>
        <p:nvSpPr>
          <p:cNvPr id="21" name="Rectangle 20">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9570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610</TotalTime>
  <Words>1277</Words>
  <Application>Microsoft Office PowerPoint</Application>
  <PresentationFormat>Widescreen</PresentationFormat>
  <Paragraphs>116</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Chapter 3 </vt:lpstr>
      <vt:lpstr>Chapter outline</vt:lpstr>
      <vt:lpstr>Meaning of Research Design</vt:lpstr>
      <vt:lpstr>Importance of Research Design</vt:lpstr>
      <vt:lpstr>Exploratory Research Design</vt:lpstr>
      <vt:lpstr>Descriptive Research Design</vt:lpstr>
      <vt:lpstr>Survey Method</vt:lpstr>
      <vt:lpstr>Advantage of Survey Method</vt:lpstr>
      <vt:lpstr>Limitations of Survey Method</vt:lpstr>
      <vt:lpstr>Case: What Do Viewers Really Want? The Research Story Behind Netflix’s Success</vt:lpstr>
      <vt:lpstr>Discussion Questions</vt:lpstr>
      <vt:lpstr>Observation Method</vt:lpstr>
      <vt:lpstr>Case Study Method</vt:lpstr>
      <vt:lpstr>Qualitative Research</vt:lpstr>
      <vt:lpstr>Qualitative Research (Cont.)</vt:lpstr>
      <vt:lpstr>Quantitative Research</vt:lpstr>
      <vt:lpstr>Quantitative Research (cont.)</vt:lpstr>
      <vt:lpstr>Case: Can a Fitness App Really Change People’s Lifestyle?</vt:lpstr>
      <vt:lpstr>Discussion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anik islam</dc:creator>
  <cp:lastModifiedBy>anik islam</cp:lastModifiedBy>
  <cp:revision>8</cp:revision>
  <dcterms:created xsi:type="dcterms:W3CDTF">2026-09-09T07:42:04Z</dcterms:created>
  <dcterms:modified xsi:type="dcterms:W3CDTF">2026-09-16T11:10:28Z</dcterms:modified>
</cp:coreProperties>
</file>