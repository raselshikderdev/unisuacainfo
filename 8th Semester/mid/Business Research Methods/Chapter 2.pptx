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53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89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24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165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53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137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35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92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5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10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72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37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13AE4BC-2211-4D4F-3686-2ACF60F9C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68945B-6DC8-AA4A-D709-6EDFBAE2B1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87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DF8B7E8-12B2-753C-7477-05B85D1D0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H="1">
            <a:off x="3729474" y="2822080"/>
            <a:ext cx="8481958" cy="4109294"/>
          </a:xfrm>
          <a:custGeom>
            <a:avLst/>
            <a:gdLst>
              <a:gd name="connsiteX0" fmla="*/ 2129133 w 8481958"/>
              <a:gd name="connsiteY0" fmla="*/ 1770 h 4109294"/>
              <a:gd name="connsiteX1" fmla="*/ 54314 w 8481958"/>
              <a:gd name="connsiteY1" fmla="*/ 918720 h 4109294"/>
              <a:gd name="connsiteX2" fmla="*/ 0 w 8481958"/>
              <a:gd name="connsiteY2" fmla="*/ 978213 h 4109294"/>
              <a:gd name="connsiteX3" fmla="*/ 54654 w 8481958"/>
              <a:gd name="connsiteY3" fmla="*/ 4109294 h 4109294"/>
              <a:gd name="connsiteX4" fmla="*/ 8481958 w 8481958"/>
              <a:gd name="connsiteY4" fmla="*/ 3962195 h 4109294"/>
              <a:gd name="connsiteX5" fmla="*/ 4000639 w 8481958"/>
              <a:gd name="connsiteY5" fmla="*/ 570502 h 4109294"/>
              <a:gd name="connsiteX6" fmla="*/ 3936789 w 8481958"/>
              <a:gd name="connsiteY6" fmla="*/ 524650 h 4109294"/>
              <a:gd name="connsiteX7" fmla="*/ 2305851 w 8481958"/>
              <a:gd name="connsiteY7" fmla="*/ 872 h 4109294"/>
              <a:gd name="connsiteX8" fmla="*/ 2129133 w 8481958"/>
              <a:gd name="connsiteY8" fmla="*/ 1770 h 4109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481958" h="4109294">
                <a:moveTo>
                  <a:pt x="2129133" y="1770"/>
                </a:moveTo>
                <a:cubicBezTo>
                  <a:pt x="1364196" y="27835"/>
                  <a:pt x="614660" y="341491"/>
                  <a:pt x="54314" y="918720"/>
                </a:cubicBezTo>
                <a:lnTo>
                  <a:pt x="0" y="978213"/>
                </a:lnTo>
                <a:lnTo>
                  <a:pt x="54654" y="4109294"/>
                </a:lnTo>
                <a:lnTo>
                  <a:pt x="8481958" y="3962195"/>
                </a:lnTo>
                <a:lnTo>
                  <a:pt x="4000639" y="570502"/>
                </a:lnTo>
                <a:lnTo>
                  <a:pt x="3936789" y="524650"/>
                </a:lnTo>
                <a:cubicBezTo>
                  <a:pt x="3438692" y="185770"/>
                  <a:pt x="2871718" y="14402"/>
                  <a:pt x="2305851" y="872"/>
                </a:cubicBezTo>
                <a:cubicBezTo>
                  <a:pt x="2246907" y="-538"/>
                  <a:pt x="2187974" y="-235"/>
                  <a:pt x="2129133" y="1770"/>
                </a:cubicBezTo>
                <a:close/>
              </a:path>
            </a:pathLst>
          </a:custGeom>
          <a:gradFill>
            <a:gsLst>
              <a:gs pos="18000">
                <a:schemeClr val="bg2">
                  <a:alpha val="79000"/>
                </a:schemeClr>
              </a:gs>
              <a:gs pos="100000">
                <a:schemeClr val="accent1">
                  <a:lumMod val="60000"/>
                  <a:lumOff val="40000"/>
                  <a:alpha val="84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988EF8-4CAD-CAE7-054F-BC562DBF1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3754" y="4385256"/>
            <a:ext cx="4679325" cy="1558341"/>
          </a:xfrm>
        </p:spPr>
        <p:txBody>
          <a:bodyPr anchor="b">
            <a:normAutofit/>
          </a:bodyPr>
          <a:lstStyle/>
          <a:p>
            <a:pPr algn="r"/>
            <a:r>
              <a:rPr lang="en-US" dirty="0"/>
              <a:t>Chapter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1AC82C-4A48-5614-FC52-C14D50393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58767" y="3429000"/>
            <a:ext cx="3181436" cy="956256"/>
          </a:xfrm>
        </p:spPr>
        <p:txBody>
          <a:bodyPr anchor="b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1700" b="1"/>
              <a:t>Variables, Research Process and Research Problem</a:t>
            </a: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37646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95E98-6BE6-9627-7E34-E3BE8D642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B2B39-92DE-FC30-01EA-E4112416D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variable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is a characteristic or attribute that can take different values.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Examples:</a:t>
            </a:r>
          </a:p>
          <a:p>
            <a:pPr marL="342900" marR="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Age</a:t>
            </a:r>
          </a:p>
          <a:p>
            <a:pPr marL="342900" marR="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Income</a:t>
            </a:r>
          </a:p>
          <a:p>
            <a:pPr marL="342900" marR="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Job satisfaction</a:t>
            </a:r>
          </a:p>
          <a:p>
            <a:pPr marL="342900" marR="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Employee performance</a:t>
            </a:r>
          </a:p>
          <a:p>
            <a:pPr marL="342900" marR="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Education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747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90C31-E0A4-3271-40C5-FA521A7D8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59845-641D-241F-5A0B-83B437979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1. Independent Variable: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An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independent variable (IV)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is a variable that is proposed to influence or explain another variable.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Example: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Employee Training → Employee Performance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Here: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Employee Training = Independent Variable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802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7C406-059D-2C2B-E731-4D89E7E9A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Variables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D4A6D-24A5-DB43-7F00-89A0FAF73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2. Dependent Variable: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dependent variable (DV)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is the outcome variable that is expected to be influenced by another variable.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Example: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Employee Training → Employee Performance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Here: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Employee Performance = Dependent Variable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795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C0F08-42C5-ABF0-2502-52E41B929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9B13F-A710-AD53-4062-14B45005D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Variables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F85B4-9A48-ED81-9819-144E07A1E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2139696"/>
            <a:ext cx="10352131" cy="4180893"/>
          </a:xfrm>
        </p:spPr>
        <p:txBody>
          <a:bodyPr>
            <a:normAutofit fontScale="85000" lnSpcReduction="10000"/>
          </a:bodyPr>
          <a:lstStyle/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mediator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explains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how or why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an independent variable affects a dependent variable.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Example: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Leadership → Psychological Empowerment → Employee Performance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Here:</a:t>
            </a:r>
          </a:p>
          <a:p>
            <a:pPr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Leadership = IV</a:t>
            </a:r>
          </a:p>
          <a:p>
            <a:pPr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Psychological Empowerment = Mediator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Employee Performance = DV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 mediator explains the mechanism through which leadership may influence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148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E503F-7505-1A74-D540-2CCC1706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C074A-EE37-4A37-95D9-1EF0BABB8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Variables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9290D-ABBC-2A77-892B-210392E52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39696"/>
            <a:ext cx="10255878" cy="4966957"/>
          </a:xfrm>
        </p:spPr>
        <p:txBody>
          <a:bodyPr>
            <a:normAutofit/>
          </a:bodyPr>
          <a:lstStyle/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4. Moderating Variable: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moderator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changes the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strength or direction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of the relationship between two variables.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Example: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Leadership → Employee Performance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Suppose employee experience changes the strength of this relationship.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Then: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Employee Experience = Moderator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391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CB253-B38C-0054-953C-C4D5C8ED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A6D0F-DF64-12C4-F085-0A2F75CE9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hypothesis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is a tentative, testable statement about a relationship between variables.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Example: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H1: Employee training has a positive effect on employee performance.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 hypothesis should be capable of being tested using empirical evidence.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609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2AA3712-C5CA-A663-E80E-253CE0930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AD5119-C2CD-B42E-E51D-9448A3D46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142999"/>
            <a:ext cx="4173416" cy="1257299"/>
          </a:xfrm>
        </p:spPr>
        <p:txBody>
          <a:bodyPr anchor="ctr">
            <a:normAutofit/>
          </a:bodyPr>
          <a:lstStyle/>
          <a:p>
            <a:r>
              <a:rPr lang="en-US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Model / Conceptual Framework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BE16A-8362-E5D9-2BBE-87F5DB3EC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7" y="2736850"/>
            <a:ext cx="4173415" cy="2978152"/>
          </a:xfrm>
        </p:spPr>
        <p:txBody>
          <a:bodyPr>
            <a:norm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kern="1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 </a:t>
            </a:r>
            <a:r>
              <a:rPr lang="en-US" b="1" kern="1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conceptual framework</a:t>
            </a:r>
            <a:r>
              <a:rPr lang="en-US" kern="1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represents the expected relationships among variables in a research study.</a:t>
            </a:r>
          </a:p>
          <a:p>
            <a:pPr marL="0" marR="0">
              <a:spcAft>
                <a:spcPts val="800"/>
              </a:spcAft>
              <a:buNone/>
            </a:pPr>
            <a:r>
              <a:rPr lang="en-US" b="1" kern="1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Example:</a:t>
            </a:r>
            <a:endParaRPr lang="en-US" kern="1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b="1" kern="1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Employee Training → Employee Motivation → Employee Performance</a:t>
            </a:r>
            <a:endParaRPr lang="en-US" kern="10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dirty="0"/>
          </a:p>
        </p:txBody>
      </p:sp>
      <p:pic>
        <p:nvPicPr>
          <p:cNvPr id="4" name="Picture 3" descr="What Is a Conceptual Framework? | Tips &amp; Examples">
            <a:extLst>
              <a:ext uri="{FF2B5EF4-FFF2-40B4-BE49-F238E27FC236}">
                <a16:creationId xmlns:a16="http://schemas.microsoft.com/office/drawing/2014/main" id="{40A6B21C-7E4D-A6DE-F85E-FC08F5E60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72199"/>
            <a:ext cx="4953000" cy="347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767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1A02B-9F29-A41B-FFC9-55B360F4F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88715"/>
            <a:ext cx="8886884" cy="953669"/>
          </a:xfrm>
        </p:spPr>
        <p:txBody>
          <a:bodyPr/>
          <a:lstStyle/>
          <a:p>
            <a:r>
              <a:rPr lang="en-US" dirty="0"/>
              <a:t>Research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6495-B7D5-8648-5D5D-91395FDBF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Identify the Research Problem</a:t>
            </a:r>
            <a:r>
              <a:rPr lang="en-US" dirty="0"/>
              <a:t> – Identify the issue, gap, or question to be investigated.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Review the Literature</a:t>
            </a:r>
            <a:r>
              <a:rPr lang="en-US" dirty="0"/>
              <a:t> – Study previous research to understand existing knowledge and identify research gaps.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Develop Research Questions or Hypotheses</a:t>
            </a:r>
            <a:r>
              <a:rPr lang="en-US" dirty="0"/>
              <a:t> – Define what the research aims to find out and develop testable statements.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Develop the Research Framework</a:t>
            </a:r>
            <a:r>
              <a:rPr lang="en-US" dirty="0"/>
              <a:t> – Identify the key variables and their expected relationships.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258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9C6E6-216D-27E9-D2D4-89A9C5479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2DFB8-94B9-0530-6D6F-E5636C11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88715"/>
            <a:ext cx="8886884" cy="953669"/>
          </a:xfrm>
        </p:spPr>
        <p:txBody>
          <a:bodyPr/>
          <a:lstStyle/>
          <a:p>
            <a:r>
              <a:rPr lang="en-US" dirty="0"/>
              <a:t>Research Process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EB29A-3E5A-9C91-6161-4A8CEDAE0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Determine the Sample</a:t>
            </a:r>
            <a:r>
              <a:rPr lang="en-US" dirty="0"/>
              <a:t> – Decide who will participate, how many participants are needed, and how they will be selected.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Collect Data</a:t>
            </a:r>
            <a:r>
              <a:rPr lang="en-US" dirty="0"/>
              <a:t> – Gather relevant information through questionnaires, interviews, observation, experiments, or other methods.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Analyze the Data</a:t>
            </a:r>
            <a:r>
              <a:rPr lang="en-US" dirty="0"/>
              <a:t> – Use appropriate statistical techniques to analyze the collected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Present Findings and Recommendations</a:t>
            </a:r>
            <a:r>
              <a:rPr lang="en-US" dirty="0"/>
              <a:t> – Explain the results and provide conclusions and recommendations based on the findings.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865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D6385-6AC8-1773-CA73-324590045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4536"/>
            <a:ext cx="8886884" cy="953669"/>
          </a:xfrm>
        </p:spPr>
        <p:txBody>
          <a:bodyPr/>
          <a:lstStyle/>
          <a:p>
            <a:r>
              <a:rPr lang="en-US" dirty="0"/>
              <a:t>Research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EE215-B923-AE31-7E21-4ECB53DF2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1349830"/>
            <a:ext cx="10490781" cy="48768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200" dirty="0"/>
              <a:t>A </a:t>
            </a:r>
            <a:r>
              <a:rPr lang="en-US" sz="2200" b="1" dirty="0"/>
              <a:t>research problem</a:t>
            </a:r>
            <a:r>
              <a:rPr lang="en-US" sz="2200" dirty="0"/>
              <a:t> is a specific issue, difficulty, unanswered question, or knowledge gap that a researcher wants to investigate systematically.</a:t>
            </a:r>
          </a:p>
          <a:p>
            <a:pPr marL="0" marR="0" algn="just">
              <a:spcAft>
                <a:spcPts val="800"/>
              </a:spcAft>
              <a:buNone/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Example</a:t>
            </a:r>
            <a:endParaRPr lang="en-US" sz="22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just">
              <a:spcAft>
                <a:spcPts val="800"/>
              </a:spcAft>
              <a:buNone/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Suppose a company has experienced a high employee turnover rate.</a:t>
            </a:r>
          </a:p>
          <a:p>
            <a:pPr marL="0" marR="0" algn="just">
              <a:spcAft>
                <a:spcPts val="800"/>
              </a:spcAft>
              <a:buNone/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 general issue is:</a:t>
            </a:r>
          </a:p>
          <a:p>
            <a:pPr marL="0" marR="0" algn="just">
              <a:spcAft>
                <a:spcPts val="800"/>
              </a:spcAft>
              <a:buNone/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Employees are leaving the organization.</a:t>
            </a:r>
            <a:endParaRPr lang="en-US" sz="22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just">
              <a:spcAft>
                <a:spcPts val="800"/>
              </a:spcAft>
              <a:buNone/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 research problem could be:</a:t>
            </a:r>
          </a:p>
          <a:p>
            <a:pPr marL="0" marR="0" algn="just">
              <a:spcAft>
                <a:spcPts val="800"/>
              </a:spcAft>
              <a:buNone/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 organization does not clearly understand how job stress and lack of organizational support contribute to employees' intention to leave.</a:t>
            </a:r>
            <a:endParaRPr lang="en-US" sz="22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871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DE646-69D7-6868-743F-A0E24D804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Research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67FBB-BEA5-1C01-7B17-F326B2740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1. Existing Literature: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Previous studies may identify areas that have not yet been adequately investigated.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Example: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Previous studies have examined leadership and employee performance, but very few studies have examined this relationship in Bangladesh's hospitality industry.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2. Practical Problems: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Real-world organizational or social problems can create research problems.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301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57449-9E7F-7729-4C8F-821ED82C3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084CA-1659-F09C-BBC6-B365473B5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Research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620FA-0C0C-089E-0615-D86A4D4D3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3. Personal Observation or Experience: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Researchers may identify problems through their own observations.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Example: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A researcher notices that employees in an organization are frequently absent and decides to investigate the possible causes.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4. Social and Economic Changes: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Changes in society, technology, economy, and business can create new research problems.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255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C0C5F-21C9-C39E-273C-E39731DEC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Characteristics of a Good Research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25E64-C1C3-9388-3632-AB6686A5E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1 Clear: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 problem should be easy to understand. For Example: 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2 Specific: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 problem should not be unnecessarily broad.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3 Researchable: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 problem must be possible to investigate using appropriate research methods and data.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4 Relevant: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 problem should have academic, practical, social, or managerial importance.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750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F7474-4016-6BC1-760B-06EA0548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EDF6A-A96C-FEFC-DBD3-A941C5E4A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Characteristics of a Good Research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B4B20-FBAF-B1C1-E0DD-539C0C7D4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5090" y="2524707"/>
            <a:ext cx="8883836" cy="3677683"/>
          </a:xfrm>
        </p:spPr>
        <p:txBody>
          <a:bodyPr>
            <a:normAutofit/>
          </a:bodyPr>
          <a:lstStyle/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5 Feasible: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 researcher should have sufficient: Time, Money, Data, Skills, Resources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6 Ethical;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 research should be possible without violating participants' rights, privacy, dignity, or safety.</a:t>
            </a: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7 Original or Valuable: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 study should contribute something useful rather than simply repeating an existing study without justification.</a:t>
            </a:r>
          </a:p>
          <a:p>
            <a:pPr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8 Significant: 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 problem should matter to someone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560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6401" y="3378954"/>
            <a:ext cx="6394567" cy="3479046"/>
          </a:xfrm>
          <a:custGeom>
            <a:avLst/>
            <a:gdLst/>
            <a:ahLst/>
            <a:cxnLst/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84B89C-BB5C-7BD7-E0CB-97CE48938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7504DE-3FB3-AE98-9BA6-A49F70E71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20" y="656226"/>
            <a:ext cx="10779969" cy="347904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7200" dirty="0"/>
              <a:t>Thank You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1721161-CDDD-DB78-5803-9142A04A6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-60000" flipH="1">
            <a:off x="4620200" y="2812310"/>
            <a:ext cx="7602366" cy="4111195"/>
          </a:xfrm>
          <a:custGeom>
            <a:avLst/>
            <a:gdLst>
              <a:gd name="connsiteX0" fmla="*/ 1266091 w 7602366"/>
              <a:gd name="connsiteY0" fmla="*/ 1707 h 4111195"/>
              <a:gd name="connsiteX1" fmla="*/ 36097 w 7602366"/>
              <a:gd name="connsiteY1" fmla="*/ 317762 h 4111195"/>
              <a:gd name="connsiteX2" fmla="*/ 0 w 7602366"/>
              <a:gd name="connsiteY2" fmla="*/ 337363 h 4111195"/>
              <a:gd name="connsiteX3" fmla="*/ 65872 w 7602366"/>
              <a:gd name="connsiteY3" fmla="*/ 4111195 h 4111195"/>
              <a:gd name="connsiteX4" fmla="*/ 7602366 w 7602366"/>
              <a:gd name="connsiteY4" fmla="*/ 3979645 h 4111195"/>
              <a:gd name="connsiteX5" fmla="*/ 3071280 w 7602366"/>
              <a:gd name="connsiteY5" fmla="*/ 550286 h 4111195"/>
              <a:gd name="connsiteX6" fmla="*/ 3009694 w 7602366"/>
              <a:gd name="connsiteY6" fmla="*/ 506058 h 4111195"/>
              <a:gd name="connsiteX7" fmla="*/ 1436547 w 7602366"/>
              <a:gd name="connsiteY7" fmla="*/ 840 h 4111195"/>
              <a:gd name="connsiteX8" fmla="*/ 1266091 w 7602366"/>
              <a:gd name="connsiteY8" fmla="*/ 1707 h 4111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02366" h="4111195">
                <a:moveTo>
                  <a:pt x="1266091" y="1707"/>
                </a:moveTo>
                <a:cubicBezTo>
                  <a:pt x="840419" y="16212"/>
                  <a:pt x="419691" y="123046"/>
                  <a:pt x="36097" y="317762"/>
                </a:cubicBezTo>
                <a:lnTo>
                  <a:pt x="0" y="337363"/>
                </a:lnTo>
                <a:lnTo>
                  <a:pt x="65872" y="4111195"/>
                </a:lnTo>
                <a:lnTo>
                  <a:pt x="7602366" y="3979645"/>
                </a:lnTo>
                <a:lnTo>
                  <a:pt x="3071280" y="550286"/>
                </a:lnTo>
                <a:lnTo>
                  <a:pt x="3009694" y="506058"/>
                </a:lnTo>
                <a:cubicBezTo>
                  <a:pt x="2529246" y="179187"/>
                  <a:pt x="1982362" y="13891"/>
                  <a:pt x="1436547" y="840"/>
                </a:cubicBezTo>
                <a:cubicBezTo>
                  <a:pt x="1379692" y="-519"/>
                  <a:pt x="1322847" y="-227"/>
                  <a:pt x="1266091" y="1707"/>
                </a:cubicBez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50744"/>
      </p:ext>
    </p:extLst>
  </p:cSld>
  <p:clrMapOvr>
    <a:masterClrMapping/>
  </p:clrMapOvr>
</p:sld>
</file>

<file path=ppt/theme/theme1.xml><?xml version="1.0" encoding="utf-8"?>
<a:theme xmlns:a="http://schemas.openxmlformats.org/drawingml/2006/main" name="SwellVTI">
  <a:themeElements>
    <a:clrScheme name="Swell">
      <a:dk1>
        <a:sysClr val="windowText" lastClr="000000"/>
      </a:dk1>
      <a:lt1>
        <a:sysClr val="window" lastClr="FFFFFF"/>
      </a:lt1>
      <a:dk2>
        <a:srgbClr val="233B47"/>
      </a:dk2>
      <a:lt2>
        <a:srgbClr val="FEEFD9"/>
      </a:lt2>
      <a:accent1>
        <a:srgbClr val="16AEA7"/>
      </a:accent1>
      <a:accent2>
        <a:srgbClr val="618F88"/>
      </a:accent2>
      <a:accent3>
        <a:srgbClr val="7A9973"/>
      </a:accent3>
      <a:accent4>
        <a:srgbClr val="8AAE8E"/>
      </a:accent4>
      <a:accent5>
        <a:srgbClr val="EB8F60"/>
      </a:accent5>
      <a:accent6>
        <a:srgbClr val="E57A6F"/>
      </a:accent6>
      <a:hlink>
        <a:srgbClr val="13968F"/>
      </a:hlink>
      <a:folHlink>
        <a:srgbClr val="E5615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778</Words>
  <Application>Microsoft Office PowerPoint</Application>
  <PresentationFormat>Widescreen</PresentationFormat>
  <Paragraphs>82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Neue Haas Grotesk Text Pro</vt:lpstr>
      <vt:lpstr>Symbol</vt:lpstr>
      <vt:lpstr>Times New Roman</vt:lpstr>
      <vt:lpstr>SwellVTI</vt:lpstr>
      <vt:lpstr>Chapter 2</vt:lpstr>
      <vt:lpstr>Variable</vt:lpstr>
      <vt:lpstr>Types of Variables</vt:lpstr>
      <vt:lpstr>Types of Variables (cont.)</vt:lpstr>
      <vt:lpstr>Types of Variables (cont.)</vt:lpstr>
      <vt:lpstr>Types of Variables (cont.)</vt:lpstr>
      <vt:lpstr>Hypothesis</vt:lpstr>
      <vt:lpstr>Model / Conceptual Framework</vt:lpstr>
      <vt:lpstr>Research Process</vt:lpstr>
      <vt:lpstr>Research Process (Cont.)</vt:lpstr>
      <vt:lpstr>Research Problem</vt:lpstr>
      <vt:lpstr>Sources of Research Problems</vt:lpstr>
      <vt:lpstr>Sources of Research Problems</vt:lpstr>
      <vt:lpstr>Characteristics of a Good Research Problem</vt:lpstr>
      <vt:lpstr>Characteristics of a Good Research Problem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islam</dc:creator>
  <cp:lastModifiedBy>anik islam</cp:lastModifiedBy>
  <cp:revision>1</cp:revision>
  <dcterms:created xsi:type="dcterms:W3CDTF">2026-09-07T03:08:35Z</dcterms:created>
  <dcterms:modified xsi:type="dcterms:W3CDTF">2026-09-07T03:21:35Z</dcterms:modified>
</cp:coreProperties>
</file>