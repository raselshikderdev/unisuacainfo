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 snapToObjects="1">
      <p:cViewPr>
        <p:scale>
          <a:sx n="98" d="100"/>
          <a:sy n="98" d="100"/>
        </p:scale>
        <p:origin x="48" y="-1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73425" y="1463040"/>
            <a:ext cx="441467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rPr dirty="0"/>
              <a:t>Digital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28C28"/>
                </a:solidFill>
              </a:defRPr>
            </a:pPr>
            <a:r>
              <a:t>Lecture 1, Class 1: An Introduction to Digital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471" y="4206240"/>
            <a:ext cx="23405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Instructor: </a:t>
            </a:r>
            <a:r>
              <a:rPr lang="en-US" dirty="0"/>
              <a:t>Iffat </a:t>
            </a:r>
            <a:r>
              <a:rPr lang="en-US" dirty="0" err="1"/>
              <a:t>Nowrin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Icebreaker: You Already Do This!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76"/>
                </a:solidFill>
              </a:defRPr>
            </a:pPr>
            <a:r>
              <a:rPr dirty="0"/>
              <a:t>"Raise your hand if you bought something online this week."</a:t>
            </a:r>
          </a:p>
          <a:p>
            <a:pPr>
              <a:spcBef>
                <a:spcPts val="2000"/>
              </a:spcBef>
              <a:defRPr sz="2600" b="1">
                <a:solidFill>
                  <a:srgbClr val="1B6CC7"/>
                </a:solidFill>
              </a:defRPr>
            </a:pPr>
            <a:r>
              <a:rPr dirty="0"/>
              <a:t>"Now — who researched a product online before buying it in a store?"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2377440"/>
          </a:xfrm>
          <a:prstGeom prst="roundRect">
            <a:avLst/>
          </a:prstGeom>
          <a:solidFill>
            <a:srgbClr val="F4F7FB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200" b="1">
                <a:solidFill>
                  <a:srgbClr val="F28C28"/>
                </a:solidFill>
              </a:defRPr>
            </a:pPr>
            <a:r>
              <a:rPr dirty="0"/>
              <a:t> Key Insight</a:t>
            </a: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</a:defRPr>
            </a:pPr>
            <a:r>
              <a:rPr dirty="0"/>
              <a:t>You just experienced digital marketing — whether you realized it or not.</a:t>
            </a:r>
          </a:p>
          <a:p>
            <a:pPr>
              <a:spcBef>
                <a:spcPts val="800"/>
              </a:spcBef>
              <a:defRPr sz="2000">
                <a:solidFill>
                  <a:srgbClr val="222222"/>
                </a:solidFill>
              </a:defRPr>
            </a:pPr>
            <a:r>
              <a:rPr dirty="0"/>
              <a:t>Every time you scroll social media, search on Google, or open a promo email — that IS digital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Digital Marketing?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84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>
                <a:solidFill>
                  <a:srgbClr val="0B2576"/>
                </a:solidFill>
              </a:defRPr>
            </a:pPr>
            <a:r>
              <a:rPr dirty="0"/>
              <a:t>Promoting products or services using digital channels — search engines, social media, email, websites, and mobile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146304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1B6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defRPr sz="1800" b="1">
                <a:solidFill>
                  <a:srgbClr val="1B6CC7"/>
                </a:solidFill>
              </a:defRPr>
            </a:pPr>
            <a:r>
              <a:rPr dirty="0"/>
              <a:t>Academic View:</a:t>
            </a:r>
          </a:p>
          <a:p>
            <a:pPr>
              <a:spcBef>
                <a:spcPts val="600"/>
              </a:spcBef>
              <a:defRPr sz="1700">
                <a:solidFill>
                  <a:srgbClr val="222222"/>
                </a:solidFill>
              </a:defRPr>
            </a:pPr>
            <a:r>
              <a:rPr dirty="0"/>
              <a:t>Digital marketing uses digital technologies to connect with consumers, build brand awareness, and drive measurable results — moving from one-way broadcasting to two-way conversations.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895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8C28"/>
                </a:solidFill>
              </a:defRPr>
            </a:pPr>
            <a:r>
              <a:rPr dirty="0"/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22222"/>
                </a:solidFill>
              </a:defRPr>
            </a:pPr>
            <a:r>
              <a:t>Think of a burger shop in Dhanmondi posting a mouth-watering burger photo on Facebook with 'Order Now' button. That single post is search, social, and mobile marketing working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is Digital Marketing VITAL?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12456"/>
              </p:ext>
            </p:extLst>
          </p:nvPr>
        </p:nvGraphicFramePr>
        <p:xfrm>
          <a:off x="457200" y="123444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Sl.</a:t>
                      </a:r>
                      <a:endParaRPr dirty="0"/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Global 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 small shop in Dhaka can sell to a buyer in New York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Cost-Effective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Higher ROI than TV/print — fits any budget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Targeted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Show ads only to the right age, location, interests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Measurable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Every click, view, purchase tracked in real-time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24/7 Presence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Your shop never sleeps — customers find you anytime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Personalization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"Hi Rafi, we thought you'd like this!"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B2576"/>
                </a:solidFill>
              </a:defRPr>
            </a:pPr>
            <a:r>
              <a:t>Any promotion used for decades before the internet: TV, Radio, Newspapers, Billboards, Direct Mail, Telemarketing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209301"/>
              </p:ext>
            </p:extLst>
          </p:nvPr>
        </p:nvGraphicFramePr>
        <p:xfrm>
          <a:off x="640080" y="19202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Pros </a:t>
                      </a:r>
                      <a:r>
                        <a:rPr lang="en-BD" dirty="0"/>
                        <a:t>✅</a:t>
                      </a:r>
                      <a:endParaRPr dirty="0"/>
                    </a:p>
                  </a:txBody>
                  <a:tcPr anchor="ctr">
                    <a:solidFill>
                      <a:srgbClr val="1B6C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Cons ❌</a:t>
                      </a:r>
                    </a:p>
                  </a:txBody>
                  <a:tcPr anchor="ctr">
                    <a:solidFill>
                      <a:srgbClr val="1B6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Tangible and credible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Expensive to produce and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Works well for local audiences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Hard to measure exact ROI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Strong with older demographics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One-way — no interaction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Physical presence in public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Long time to create and launch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394960"/>
            <a:ext cx="108813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1B6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 dirty="0"/>
              <a:t>Example: A Grameenphone billboard on a Dhaka highway — everyone driving by sees it, but no one can click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Digital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B2576"/>
                </a:solidFill>
              </a:defRPr>
            </a:pPr>
            <a:r>
              <a:t>Marketing that uses an electronic device or the internet to connect with customers: SEO, Social Media, Email, PPC, Content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Pros ✅</a:t>
                      </a:r>
                    </a:p>
                  </a:txBody>
                  <a:tcPr anchor="ctr">
                    <a:solidFill>
                      <a:srgbClr val="2EA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Cons ❌</a:t>
                      </a:r>
                    </a:p>
                  </a:txBody>
                  <a:tcPr anchor="ctr">
                    <a:solidFill>
                      <a:srgbClr val="2EA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Cost-effective and scalable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Highly competitive, saturated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Easy to measure and analyze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Algorithm changes hurt visibility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Highly targeted by interest/age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Privacy rules limit targeting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Two-way interaction &amp; real-time tweaks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Ad fatigue — users tune out ads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394960"/>
            <a:ext cx="108813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E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 dirty="0"/>
              <a:t>Example: That same Grameenphone billboard becomes a Facebook ad — viewers can click 'Buy Now' instantly and GP can see exactly who clicked.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vs Digital: Quick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Digital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TV, Radio, Print, Billboards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Social, Search, Email, Websites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Communication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One-way (broadcast)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Two-way (interactive)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Flexible &amp; affordable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Audience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Broad / mass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Hyper-targeted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Measurability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Hard to 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Trackable in real-time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Engagement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Active — likes, shares, comments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715000"/>
            <a:ext cx="11247120" cy="7772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 Insight: Smart marketers combine both — a billboard can drive people to a website!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7 C's of Digital Marketing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Simple Example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Understand &amp; meet their needs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Start with a buyer persona, not the 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Create valuable, relevant material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 skincare brand's 'how to' videos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Right message, right place,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Show umbrella ads on rainy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Build a loyal following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 Facebook group of loyal fans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Convenience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Easy access and usability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One-click mobile 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Cohesion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One consistent brand message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Same tone on Facebook, Insta, website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Turn visitors into paying 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 clear 'Buy Now' button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5 A's: Customer Journey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What Marketers Do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Customer knows you exist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SEO, social ads, PR for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Appeal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Customer finds you interesting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Compelling, resonant content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Customer researches you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Reviews, FAQs, easy-to-find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Act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Customer buys or signs up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Smooth checkout, less friction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Advocate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Customer recommends you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Referral programs, loyalty rewards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40680"/>
            <a:ext cx="11247120" cy="100584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222222"/>
                </a:solidFill>
              </a:defRPr>
            </a:pPr>
            <a:r>
              <a:t>Not always a straight line! A customer may go Aware → Ask → Appeal → Act. Advocacy loops back to attract new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Putting It Together: Real-Life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7136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576"/>
                </a:solidFill>
              </a:defRPr>
            </a:pPr>
            <a:r>
              <a:rPr dirty="0"/>
              <a:t>Example: Buying shoes online from a Bangladeshi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Aware — You see a shoe ad on Facebook (Content + Context)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Appeal — The design and price catch your eye (Content)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Ask — You check reviews and their Instagram page (Community)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Act — You order with one-click checkout (Convenience + Conversion)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Advocate — You post an unboxing story and tag the brand (Community)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Keywords</a:t>
            </a:r>
            <a:r>
              <a:rPr dirty="0"/>
              <a:t> in Digital Marketing?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60497"/>
              </p:ext>
            </p:extLst>
          </p:nvPr>
        </p:nvGraphicFramePr>
        <p:xfrm>
          <a:off x="365760" y="1188720"/>
          <a:ext cx="11430000" cy="454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 Simple Words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AI in Marketing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Chatbots, personalized picks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Automates tasks, scales personalization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Short-Form Video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Reels, Shorts, TikTok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Matches shrinking attention spans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Social Commerce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Buy inside Instagram/FB/TikTok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Fewer clicks to purchase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Influencer Marketing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Micro-influencers, niche experts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More trust than celebrities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Voice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Optimizing for 'Hey Google'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50%+ of searches are now voice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Challenges: The Reality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High Competition — everyone is online, standing out is hard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Ad Fatigue — users are overwhelmed and ignore generic ads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Privacy Regulations — GDPR, CCPA and a cookie-less future make targeting harder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Algorithm Changes — platforms change rules overnight, cutting organic reach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Content Overload — huge volume of content makes attention scarce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BA 3205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965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2026-09-08T04:40:51Z</dcterms:modified>
  <cp:category/>
</cp:coreProperties>
</file>