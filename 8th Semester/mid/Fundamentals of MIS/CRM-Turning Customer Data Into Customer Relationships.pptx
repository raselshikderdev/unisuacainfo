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IBM Plex Sans Medium" panose="020F0502020204030204" pitchFamily="34" charset="0"/>
      <p:regular r:id="rId11"/>
      <p:italic r:id="rId12"/>
    </p:embeddedFont>
    <p:embeddedFont>
      <p:font typeface="Roboto" panose="020F0502020204030204" pitchFamily="2" charset="0"/>
      <p:regular r:id="rId13"/>
      <p:bold r:id="rId14"/>
      <p:italic r:id="rId15"/>
      <p:boldItalic r:id="rId16"/>
    </p:embeddedFont>
    <p:embeddedFont>
      <p:font typeface="Roboto Bold" panose="020B0604020202020204" charset="0"/>
      <p:regular r:id="rId17"/>
      <p:bold r:id="rId18"/>
    </p:embeddedFont>
    <p:embeddedFont>
      <p:font typeface="Twemoji Mozilla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5695" autoAdjust="0"/>
    <p:restoredTop sz="94610"/>
  </p:normalViewPr>
  <p:slideViewPr>
    <p:cSldViewPr snapToGrid="0" snapToObjects="1">
      <p:cViewPr>
        <p:scale>
          <a:sx n="44" d="100"/>
          <a:sy n="44" d="100"/>
        </p:scale>
        <p:origin x="56" y="4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sel Shikder" userId="3b0a0df3cb7c252d" providerId="LiveId" clId="{AB4BFD42-8482-4EDE-9883-1FD329273F12}"/>
    <pc:docChg chg="modSld">
      <pc:chgData name="Rasel Shikder" userId="3b0a0df3cb7c252d" providerId="LiveId" clId="{AB4BFD42-8482-4EDE-9883-1FD329273F12}" dt="2026-09-12T12:33:41.354" v="1" actId="20577"/>
      <pc:docMkLst>
        <pc:docMk/>
      </pc:docMkLst>
      <pc:sldChg chg="modSp mod">
        <pc:chgData name="Rasel Shikder" userId="3b0a0df3cb7c252d" providerId="LiveId" clId="{AB4BFD42-8482-4EDE-9883-1FD329273F12}" dt="2026-09-12T12:33:41.354" v="1" actId="20577"/>
        <pc:sldMkLst>
          <pc:docMk/>
          <pc:sldMk cId="0" sldId="262"/>
        </pc:sldMkLst>
        <pc:spChg chg="mod">
          <ac:chgData name="Rasel Shikder" userId="3b0a0df3cb7c252d" providerId="LiveId" clId="{AB4BFD42-8482-4EDE-9883-1FD329273F12}" dt="2026-09-12T12:33:41.354" v="1" actId="20577"/>
          <ac:spMkLst>
            <pc:docMk/>
            <pc:sldMk cId="0" sldId="262"/>
            <ac:spMk id="3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0541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4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C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83835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CRM: Turning Customer Data Into Customer Relationships</a:t>
            </a:r>
            <a:endParaRPr lang="en-US" sz="3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AFE3CB-F48D-751C-7D69-88708CC7D8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9275" y="6115050"/>
            <a:ext cx="2752725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>
            <a:alpha val="4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14">
            <a:extLst>
              <a:ext uri="{FF2B5EF4-FFF2-40B4-BE49-F238E27FC236}">
                <a16:creationId xmlns:a16="http://schemas.microsoft.com/office/drawing/2014/main" id="{465BFFF8-1FD4-474E-C196-E38B69FCA5E9}"/>
              </a:ext>
            </a:extLst>
          </p:cNvPr>
          <p:cNvSpPr>
            <a:spLocks/>
          </p:cNvSpPr>
          <p:nvPr/>
        </p:nvSpPr>
        <p:spPr>
          <a:xfrm>
            <a:off x="8927211" y="4473888"/>
            <a:ext cx="512064" cy="512016"/>
          </a:xfrm>
          <a:prstGeom prst="ellipse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61475" y="1872059"/>
            <a:ext cx="10868745" cy="177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150" dirty="0">
                <a:solidFill>
                  <a:srgbClr val="FF6B35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10,000</a:t>
            </a:r>
            <a:endParaRPr lang="en-US" sz="11150" dirty="0"/>
          </a:p>
        </p:txBody>
      </p:sp>
      <p:sp>
        <p:nvSpPr>
          <p:cNvPr id="3" name="Text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61475" y="3927574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9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Customers.</a:t>
            </a:r>
            <a:endParaRPr lang="en-US" sz="2950" dirty="0"/>
          </a:p>
        </p:txBody>
      </p:sp>
      <p:sp>
        <p:nvSpPr>
          <p:cNvPr id="4" name="Text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6682" y="468352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But your brain can only remember </a:t>
            </a:r>
            <a:r>
              <a:rPr lang="en-US" sz="14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150 people.</a:t>
            </a:r>
            <a:endParaRPr lang="en-US" sz="14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D37D04-DEAC-E185-7787-A7AC720EDB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9275" y="6115050"/>
            <a:ext cx="2752725" cy="742950"/>
          </a:xfrm>
          <a:prstGeom prst="rect">
            <a:avLst/>
          </a:prstGeom>
        </p:spPr>
      </p:pic>
      <p:sp>
        <p:nvSpPr>
          <p:cNvPr id="21" name="Shape 0">
            <a:extLst>
              <a:ext uri="{FF2B5EF4-FFF2-40B4-BE49-F238E27FC236}">
                <a16:creationId xmlns:a16="http://schemas.microsoft.com/office/drawing/2014/main" id="{92AF1AF4-8C2A-10E1-95FE-455A0F4C457A}"/>
              </a:ext>
            </a:extLst>
          </p:cNvPr>
          <p:cNvSpPr>
            <a:spLocks/>
          </p:cNvSpPr>
          <p:nvPr/>
        </p:nvSpPr>
        <p:spPr>
          <a:xfrm flipH="1" flipV="1">
            <a:off x="6805803" y="3541196"/>
            <a:ext cx="2377440" cy="1188620"/>
          </a:xfrm>
          <a:prstGeom prst="line">
            <a:avLst/>
          </a:prstGeom>
          <a:noFill/>
          <a:ln w="12700">
            <a:solidFill>
              <a:srgbClr val="FF7A59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9ABC648C-D423-865D-659F-5F48F52D33B3}"/>
              </a:ext>
            </a:extLst>
          </p:cNvPr>
          <p:cNvSpPr>
            <a:spLocks/>
          </p:cNvSpPr>
          <p:nvPr/>
        </p:nvSpPr>
        <p:spPr>
          <a:xfrm>
            <a:off x="6723507" y="3458896"/>
            <a:ext cx="164592" cy="164519"/>
          </a:xfrm>
          <a:prstGeom prst="ellipse">
            <a:avLst/>
          </a:prstGeom>
          <a:solidFill>
            <a:srgbClr val="4A4A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275265DF-19A4-9838-15AE-0A0B454048DA}"/>
              </a:ext>
            </a:extLst>
          </p:cNvPr>
          <p:cNvSpPr>
            <a:spLocks/>
          </p:cNvSpPr>
          <p:nvPr/>
        </p:nvSpPr>
        <p:spPr>
          <a:xfrm flipH="1">
            <a:off x="6531483" y="4729914"/>
            <a:ext cx="2651760" cy="548592"/>
          </a:xfrm>
          <a:prstGeom prst="line">
            <a:avLst/>
          </a:prstGeom>
          <a:noFill/>
          <a:ln w="12700">
            <a:solidFill>
              <a:srgbClr val="FF7A59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028345D1-CC41-E8CE-1F91-E7D6FAC1C661}"/>
              </a:ext>
            </a:extLst>
          </p:cNvPr>
          <p:cNvSpPr>
            <a:spLocks/>
          </p:cNvSpPr>
          <p:nvPr/>
        </p:nvSpPr>
        <p:spPr>
          <a:xfrm>
            <a:off x="6449187" y="5196256"/>
            <a:ext cx="164592" cy="164519"/>
          </a:xfrm>
          <a:prstGeom prst="ellipse">
            <a:avLst/>
          </a:prstGeom>
          <a:solidFill>
            <a:srgbClr val="4A4A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97EC13AA-4BD6-DE43-0CF5-5A4CBD35AFA7}"/>
              </a:ext>
            </a:extLst>
          </p:cNvPr>
          <p:cNvSpPr>
            <a:spLocks/>
          </p:cNvSpPr>
          <p:nvPr/>
        </p:nvSpPr>
        <p:spPr>
          <a:xfrm flipH="1">
            <a:off x="8177403" y="4729914"/>
            <a:ext cx="1005840" cy="1828778"/>
          </a:xfrm>
          <a:prstGeom prst="line">
            <a:avLst/>
          </a:prstGeom>
          <a:noFill/>
          <a:ln w="12700">
            <a:solidFill>
              <a:srgbClr val="FF7A59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BE60A975-BFE2-9C22-0F1A-777DB255611E}"/>
              </a:ext>
            </a:extLst>
          </p:cNvPr>
          <p:cNvSpPr>
            <a:spLocks/>
          </p:cNvSpPr>
          <p:nvPr/>
        </p:nvSpPr>
        <p:spPr>
          <a:xfrm>
            <a:off x="8095107" y="6476416"/>
            <a:ext cx="164592" cy="164519"/>
          </a:xfrm>
          <a:prstGeom prst="ellipse">
            <a:avLst/>
          </a:prstGeom>
          <a:solidFill>
            <a:srgbClr val="4A4A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33DDBB94-ED04-CF43-1BD6-952E90C5D775}"/>
              </a:ext>
            </a:extLst>
          </p:cNvPr>
          <p:cNvSpPr>
            <a:spLocks/>
          </p:cNvSpPr>
          <p:nvPr/>
        </p:nvSpPr>
        <p:spPr>
          <a:xfrm>
            <a:off x="9183243" y="4729914"/>
            <a:ext cx="1005840" cy="1828778"/>
          </a:xfrm>
          <a:prstGeom prst="line">
            <a:avLst/>
          </a:prstGeom>
          <a:noFill/>
          <a:ln w="12700">
            <a:solidFill>
              <a:srgbClr val="FF7A59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7576910A-37F3-4F4C-13E1-EE490E83884F}"/>
              </a:ext>
            </a:extLst>
          </p:cNvPr>
          <p:cNvSpPr>
            <a:spLocks/>
          </p:cNvSpPr>
          <p:nvPr/>
        </p:nvSpPr>
        <p:spPr>
          <a:xfrm>
            <a:off x="10106787" y="6476416"/>
            <a:ext cx="164592" cy="164519"/>
          </a:xfrm>
          <a:prstGeom prst="ellipse">
            <a:avLst/>
          </a:prstGeom>
          <a:solidFill>
            <a:srgbClr val="4A4A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6162CF3B-1582-F2E4-12D8-09B6A904D7A9}"/>
              </a:ext>
            </a:extLst>
          </p:cNvPr>
          <p:cNvSpPr>
            <a:spLocks/>
          </p:cNvSpPr>
          <p:nvPr/>
        </p:nvSpPr>
        <p:spPr>
          <a:xfrm>
            <a:off x="9183243" y="4729914"/>
            <a:ext cx="2651760" cy="548592"/>
          </a:xfrm>
          <a:prstGeom prst="line">
            <a:avLst/>
          </a:prstGeom>
          <a:noFill/>
          <a:ln w="12700">
            <a:solidFill>
              <a:srgbClr val="FF7A59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F78C44AF-617A-7A99-7DEB-D5F3A090E985}"/>
              </a:ext>
            </a:extLst>
          </p:cNvPr>
          <p:cNvSpPr>
            <a:spLocks/>
          </p:cNvSpPr>
          <p:nvPr/>
        </p:nvSpPr>
        <p:spPr>
          <a:xfrm>
            <a:off x="11752707" y="5196256"/>
            <a:ext cx="164592" cy="164519"/>
          </a:xfrm>
          <a:prstGeom prst="ellipse">
            <a:avLst/>
          </a:prstGeom>
          <a:solidFill>
            <a:srgbClr val="4A4A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BEF3C63B-6BFE-68F3-27C4-0A720D91DC66}"/>
              </a:ext>
            </a:extLst>
          </p:cNvPr>
          <p:cNvSpPr>
            <a:spLocks/>
          </p:cNvSpPr>
          <p:nvPr/>
        </p:nvSpPr>
        <p:spPr>
          <a:xfrm flipV="1">
            <a:off x="9183243" y="3541196"/>
            <a:ext cx="2377440" cy="1188620"/>
          </a:xfrm>
          <a:prstGeom prst="line">
            <a:avLst/>
          </a:prstGeom>
          <a:noFill/>
          <a:ln w="12700">
            <a:solidFill>
              <a:srgbClr val="FF7A59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14C82D59-0B29-293B-F920-A81C1AB29E0E}"/>
              </a:ext>
            </a:extLst>
          </p:cNvPr>
          <p:cNvSpPr>
            <a:spLocks/>
          </p:cNvSpPr>
          <p:nvPr/>
        </p:nvSpPr>
        <p:spPr>
          <a:xfrm>
            <a:off x="11478387" y="3458896"/>
            <a:ext cx="164592" cy="164519"/>
          </a:xfrm>
          <a:prstGeom prst="ellipse">
            <a:avLst/>
          </a:prstGeom>
          <a:solidFill>
            <a:srgbClr val="4A4A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0D294300-EE0F-9403-6562-465B6671BF36}"/>
              </a:ext>
            </a:extLst>
          </p:cNvPr>
          <p:cNvSpPr>
            <a:spLocks/>
          </p:cNvSpPr>
          <p:nvPr/>
        </p:nvSpPr>
        <p:spPr>
          <a:xfrm flipV="1">
            <a:off x="9183243" y="2809678"/>
            <a:ext cx="0" cy="1920240"/>
          </a:xfrm>
          <a:prstGeom prst="line">
            <a:avLst/>
          </a:prstGeom>
          <a:noFill/>
          <a:ln w="12700">
            <a:solidFill>
              <a:srgbClr val="FF7A59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758C8E86-2B5B-088A-7504-6C3359045E9A}"/>
              </a:ext>
            </a:extLst>
          </p:cNvPr>
          <p:cNvSpPr>
            <a:spLocks/>
          </p:cNvSpPr>
          <p:nvPr/>
        </p:nvSpPr>
        <p:spPr>
          <a:xfrm>
            <a:off x="9100947" y="2727376"/>
            <a:ext cx="164592" cy="164519"/>
          </a:xfrm>
          <a:prstGeom prst="ellipse">
            <a:avLst/>
          </a:prstGeom>
          <a:solidFill>
            <a:srgbClr val="4A4A5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705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Their Stories Are Everywhere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139182"/>
            <a:ext cx="3496877" cy="679648"/>
          </a:xfrm>
          <a:prstGeom prst="roundRect">
            <a:avLst>
              <a:gd name="adj" fmla="val 4172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0482" y="3328194"/>
            <a:ext cx="31188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📧</a:t>
            </a: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Email Inbox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4347359" y="3139182"/>
            <a:ext cx="3496877" cy="679648"/>
          </a:xfrm>
          <a:prstGeom prst="roundRect">
            <a:avLst>
              <a:gd name="adj" fmla="val 4172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36366" y="3328194"/>
            <a:ext cx="31188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💬</a:t>
            </a:r>
            <a:r>
              <a:rPr lang="en-US" sz="185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Slack Messages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8033244" y="3139182"/>
            <a:ext cx="3496877" cy="679648"/>
          </a:xfrm>
          <a:prstGeom prst="roundRect">
            <a:avLst>
              <a:gd name="adj" fmla="val 4172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2251" y="3328194"/>
            <a:ext cx="31188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📱</a:t>
            </a: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WhatsApp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661475" y="4007842"/>
            <a:ext cx="5339820" cy="679648"/>
          </a:xfrm>
          <a:prstGeom prst="roundRect">
            <a:avLst>
              <a:gd name="adj" fmla="val 4172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0482" y="4196854"/>
            <a:ext cx="496180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85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Spreadsheets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6190301" y="4007842"/>
            <a:ext cx="5339820" cy="679648"/>
          </a:xfrm>
          <a:prstGeom prst="roundRect">
            <a:avLst>
              <a:gd name="adj" fmla="val 4172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79308" y="4196854"/>
            <a:ext cx="496180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🧠</a:t>
            </a: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Your Memory</a:t>
            </a:r>
            <a:endParaRPr lang="en-US" sz="1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11B1420-9640-CF0F-587E-E8630B90C5C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9275" y="6115050"/>
            <a:ext cx="2752725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26394"/>
            <a:ext cx="5203794" cy="2445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CRM Doesn't </a:t>
            </a:r>
            <a:r>
              <a:rPr lang="en-US" sz="5100" dirty="0">
                <a:solidFill>
                  <a:srgbClr val="FF6B35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Create</a:t>
            </a:r>
            <a:r>
              <a:rPr lang="en-US" sz="51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Relationships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661475" y="4260949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helps you </a:t>
            </a:r>
            <a:r>
              <a:rPr lang="en-US" sz="14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remember</a:t>
            </a: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them.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2776" y="1650008"/>
            <a:ext cx="567021" cy="5670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32776" y="245328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Human Memory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332776" y="2937570"/>
            <a:ext cx="520379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Limited. Fallible. Finite.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2776" y="3618012"/>
            <a:ext cx="567021" cy="5670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32776" y="442128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CRM Memory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332776" y="4905573"/>
            <a:ext cx="520379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Unlimited. Perfect. Always on.</a:t>
            </a:r>
            <a:endParaRPr lang="en-US" sz="14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6796A2-A270-9B28-2D7A-21F9690A1C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9275" y="6115050"/>
            <a:ext cx="2752725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312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 Customer Journey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511796"/>
            <a:ext cx="5434373" cy="756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82" y="2456855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Lead</a:t>
            </a:r>
            <a:endParaRPr lang="en-US" sz="1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1511796"/>
            <a:ext cx="5434373" cy="75604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84854" y="2456855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Qualified</a:t>
            </a:r>
            <a:endParaRPr lang="en-US" sz="1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2941141"/>
            <a:ext cx="5434373" cy="75604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50482" y="3886200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Opportunity</a:t>
            </a:r>
            <a:endParaRPr lang="en-US" sz="18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2941141"/>
            <a:ext cx="5434373" cy="75604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284854" y="3886200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Proposal</a:t>
            </a:r>
            <a:endParaRPr lang="en-US" sz="18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4370487"/>
            <a:ext cx="5434373" cy="75604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50482" y="5315545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Negotiation</a:t>
            </a:r>
            <a:endParaRPr lang="en-US" sz="18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5848" y="4370487"/>
            <a:ext cx="5434373" cy="756047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284854" y="5315545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Customer</a:t>
            </a:r>
            <a:endParaRPr lang="en-US" sz="1850" dirty="0"/>
          </a:p>
        </p:txBody>
      </p:sp>
      <p:sp>
        <p:nvSpPr>
          <p:cNvPr id="15" name="Text 7"/>
          <p:cNvSpPr/>
          <p:nvPr/>
        </p:nvSpPr>
        <p:spPr>
          <a:xfrm>
            <a:off x="356682" y="601245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deal moves through a journey. The question is — can you see it?</a:t>
            </a:r>
            <a:endParaRPr lang="en-US" sz="14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C0C8481-80F6-C61F-DA17-58FFA644BF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39275" y="6125269"/>
            <a:ext cx="2752725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199257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Without CRM: The </a:t>
            </a:r>
            <a:r>
              <a:rPr lang="en-US" sz="3700" dirty="0">
                <a:solidFill>
                  <a:srgbClr val="FF6B35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Invisible</a:t>
            </a: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Sales Process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5350" y="2664023"/>
            <a:ext cx="3190101" cy="2994620"/>
          </a:xfrm>
          <a:prstGeom prst="roundRect">
            <a:avLst>
              <a:gd name="adj" fmla="val 947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14357" y="2853035"/>
            <a:ext cx="281208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You don't know where deals are.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714357" y="3632597"/>
            <a:ext cx="342167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don't know what's next.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046833" y="2876649"/>
            <a:ext cx="2917851" cy="730448"/>
          </a:xfrm>
          <a:prstGeom prst="roundRect">
            <a:avLst>
              <a:gd name="adj" fmla="val 3882"/>
            </a:avLst>
          </a:prstGeom>
          <a:solidFill>
            <a:srgbClr val="292C32"/>
          </a:solidFill>
          <a:ln w="25399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261239" y="3091061"/>
            <a:ext cx="248903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❓</a:t>
            </a: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Lost context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4046833" y="3796109"/>
            <a:ext cx="2917851" cy="730448"/>
          </a:xfrm>
          <a:prstGeom prst="roundRect">
            <a:avLst>
              <a:gd name="adj" fmla="val 3882"/>
            </a:avLst>
          </a:prstGeom>
          <a:solidFill>
            <a:srgbClr val="292C32"/>
          </a:solidFill>
          <a:ln w="25399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261239" y="4010521"/>
            <a:ext cx="248903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❓</a:t>
            </a: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Missed follow-ups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4046833" y="4715570"/>
            <a:ext cx="2917851" cy="730448"/>
          </a:xfrm>
          <a:prstGeom prst="roundRect">
            <a:avLst>
              <a:gd name="adj" fmla="val 3882"/>
            </a:avLst>
          </a:prstGeom>
          <a:solidFill>
            <a:srgbClr val="292C32"/>
          </a:solidFill>
          <a:ln w="25399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261239" y="4929981"/>
            <a:ext cx="248903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❓</a:t>
            </a: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Invisible pipeline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66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With CRM: The </a:t>
            </a:r>
            <a:r>
              <a:rPr lang="en-US" sz="3700" dirty="0">
                <a:solidFill>
                  <a:srgbClr val="FF6B35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Visible</a:t>
            </a: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Sales Pipeline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1536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deal. Every stage. Every next step.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686572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616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117077" y="3119537"/>
            <a:ext cx="25399" cy="567035"/>
          </a:xfrm>
          <a:prstGeom prst="roundRect">
            <a:avLst>
              <a:gd name="adj" fmla="val 50001"/>
            </a:avLst>
          </a:prstGeom>
          <a:solidFill>
            <a:srgbClr val="616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58936" y="3615730"/>
            <a:ext cx="141681" cy="141684"/>
          </a:xfrm>
          <a:prstGeom prst="ellipse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61475" y="2030413"/>
            <a:ext cx="2936603" cy="1089124"/>
          </a:xfrm>
          <a:prstGeom prst="roundRect">
            <a:avLst>
              <a:gd name="adj" fmla="val 2603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0482" y="2219424"/>
            <a:ext cx="255858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Lead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50482" y="2628106"/>
            <a:ext cx="255858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active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703446" y="3686572"/>
            <a:ext cx="25399" cy="567035"/>
          </a:xfrm>
          <a:prstGeom prst="roundRect">
            <a:avLst>
              <a:gd name="adj" fmla="val 50001"/>
            </a:avLst>
          </a:prstGeom>
          <a:solidFill>
            <a:srgbClr val="616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45305" y="3615730"/>
            <a:ext cx="141681" cy="141684"/>
          </a:xfrm>
          <a:prstGeom prst="ellipse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247844" y="4253607"/>
            <a:ext cx="2936603" cy="1089124"/>
          </a:xfrm>
          <a:prstGeom prst="roundRect">
            <a:avLst>
              <a:gd name="adj" fmla="val 2603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36851" y="4442619"/>
            <a:ext cx="255858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Qualified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2436851" y="4851301"/>
            <a:ext cx="255858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 active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289914" y="3119537"/>
            <a:ext cx="25399" cy="567035"/>
          </a:xfrm>
          <a:prstGeom prst="roundRect">
            <a:avLst>
              <a:gd name="adj" fmla="val 50001"/>
            </a:avLst>
          </a:prstGeom>
          <a:solidFill>
            <a:srgbClr val="616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31773" y="3615730"/>
            <a:ext cx="141681" cy="141684"/>
          </a:xfrm>
          <a:prstGeom prst="ellipse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834312" y="2030413"/>
            <a:ext cx="2936603" cy="1089124"/>
          </a:xfrm>
          <a:prstGeom prst="roundRect">
            <a:avLst>
              <a:gd name="adj" fmla="val 2603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23319" y="2219424"/>
            <a:ext cx="255858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Opportunity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4023319" y="2628106"/>
            <a:ext cx="255858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active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876283" y="3686572"/>
            <a:ext cx="25399" cy="567035"/>
          </a:xfrm>
          <a:prstGeom prst="roundRect">
            <a:avLst>
              <a:gd name="adj" fmla="val 50001"/>
            </a:avLst>
          </a:prstGeom>
          <a:solidFill>
            <a:srgbClr val="616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18142" y="3615730"/>
            <a:ext cx="141681" cy="141684"/>
          </a:xfrm>
          <a:prstGeom prst="ellipse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20681" y="4253607"/>
            <a:ext cx="2936603" cy="1089124"/>
          </a:xfrm>
          <a:prstGeom prst="roundRect">
            <a:avLst>
              <a:gd name="adj" fmla="val 2603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09688" y="4442619"/>
            <a:ext cx="255858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Proposal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5609688" y="4851301"/>
            <a:ext cx="255858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active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8462751" y="3119537"/>
            <a:ext cx="25399" cy="567035"/>
          </a:xfrm>
          <a:prstGeom prst="roundRect">
            <a:avLst>
              <a:gd name="adj" fmla="val 50001"/>
            </a:avLst>
          </a:prstGeom>
          <a:solidFill>
            <a:srgbClr val="616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404610" y="3615730"/>
            <a:ext cx="141681" cy="141684"/>
          </a:xfrm>
          <a:prstGeom prst="ellipse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007149" y="2030413"/>
            <a:ext cx="2936603" cy="1089124"/>
          </a:xfrm>
          <a:prstGeom prst="roundRect">
            <a:avLst>
              <a:gd name="adj" fmla="val 2603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196156" y="2219424"/>
            <a:ext cx="255858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Negotiation</a:t>
            </a:r>
            <a:endParaRPr lang="en-US" sz="1850" dirty="0"/>
          </a:p>
        </p:txBody>
      </p:sp>
      <p:sp>
        <p:nvSpPr>
          <p:cNvPr id="29" name="Text 27"/>
          <p:cNvSpPr/>
          <p:nvPr/>
        </p:nvSpPr>
        <p:spPr>
          <a:xfrm>
            <a:off x="7196156" y="2628106"/>
            <a:ext cx="255858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active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10049120" y="3686572"/>
            <a:ext cx="25399" cy="567035"/>
          </a:xfrm>
          <a:prstGeom prst="roundRect">
            <a:avLst>
              <a:gd name="adj" fmla="val 50001"/>
            </a:avLst>
          </a:prstGeom>
          <a:solidFill>
            <a:srgbClr val="616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990979" y="3615730"/>
            <a:ext cx="141681" cy="141684"/>
          </a:xfrm>
          <a:prstGeom prst="ellipse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593518" y="4253607"/>
            <a:ext cx="2936603" cy="1089124"/>
          </a:xfrm>
          <a:prstGeom prst="roundRect">
            <a:avLst>
              <a:gd name="adj" fmla="val 2603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782525" y="4442619"/>
            <a:ext cx="255858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Closed</a:t>
            </a:r>
            <a:endParaRPr lang="en-US" sz="1850" dirty="0"/>
          </a:p>
        </p:txBody>
      </p:sp>
      <p:sp>
        <p:nvSpPr>
          <p:cNvPr id="34" name="Text 32"/>
          <p:cNvSpPr/>
          <p:nvPr/>
        </p:nvSpPr>
        <p:spPr>
          <a:xfrm>
            <a:off x="8782525" y="4851301"/>
            <a:ext cx="255858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Won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661475" y="5555357"/>
            <a:ext cx="10868745" cy="755948"/>
          </a:xfrm>
          <a:prstGeom prst="roundRect">
            <a:avLst>
              <a:gd name="adj" fmla="val 3751"/>
            </a:avLst>
          </a:prstGeom>
          <a:solidFill>
            <a:srgbClr val="8033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823049"/>
            <a:ext cx="236234" cy="189012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275723" y="5791597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Clarity. Control. Confidence.</a:t>
            </a:r>
            <a:endParaRPr lang="en-US" sz="145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3D4946B-1076-94CA-F9F8-E7B674FA59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5148" y="6330256"/>
            <a:ext cx="2752725" cy="5067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728416"/>
            <a:ext cx="6296860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Meet </a:t>
            </a:r>
            <a:r>
              <a:rPr lang="en-US" sz="5100" dirty="0">
                <a:solidFill>
                  <a:srgbClr val="FF6B35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HubSpot</a:t>
            </a:r>
            <a:r>
              <a:rPr lang="en-US" sz="51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CRM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356682" y="3827066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Let's see it in action.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176</Words>
  <Application>Microsoft Office PowerPoint</Application>
  <PresentationFormat>Widescreen</PresentationFormat>
  <Paragraphs>55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Roboto</vt:lpstr>
      <vt:lpstr>Twemoji Mozilla</vt:lpstr>
      <vt:lpstr>Arial</vt:lpstr>
      <vt:lpstr>Roboto Bold</vt:lpstr>
      <vt:lpstr>IBM Plex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Rasel Shikder</cp:lastModifiedBy>
  <cp:revision>3</cp:revision>
  <dcterms:created xsi:type="dcterms:W3CDTF">2026-09-10T17:36:05Z</dcterms:created>
  <dcterms:modified xsi:type="dcterms:W3CDTF">2026-09-12T12:33:50Z</dcterms:modified>
</cp:coreProperties>
</file>